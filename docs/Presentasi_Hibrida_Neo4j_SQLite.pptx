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pertanyaan dosen adalah apakah graph database dapat dikombinasikan dengan relational database biasa. Penelitian ini menjawabnya dengan eksperimen langsung pada data jejaring sosial nyata, bukan dengan argumen saja.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Pertanyaan ini dijawab dengan tiga jenis bukti: tes kebenaran yang lulus atau gagal, perbandingan dua mesin pada pertanyaan yang sama, dan pengukuran biaya.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Relasional dan graf punya kekuatan berbeda. Pertanyaan penelitian adalah bagaimana keduanya bekerja bersama dan berapa biayanya.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Hipotesis ditulis sebelum hasil dilihat supaya dapat dibantah oleh data. Salah satunya, H3, memang hanya didukung sebagian.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Sampel diambil dari satu wilayah dengan relasi paling rapat. Sampel lebih rapat dan lebih kecil diameternya daripada seluruh Pokec, jadi hasil kinerja berlaku untuk skala ini.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Tidak ada middleware dan tidak ada transaksi lintas basis data. Python yang menggabungkan; konsistensi dijaga oleh sinkronisasi idempoten dan pemeriksaan otomatis. Ini keluarga polyglot persistence di tingkat aplikasi.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 yang sama dipakai di lima fungsi: rekomendasi teman, komunitas hobi, pengguna paling terhubung, hobi sama, dan penggabungan profil. Setiap query Neo4j disimpan di folder queries dan bisa ditempel ke Neo4j Browser.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Keputusan penting: membandingkan SQL JOIN dengan Cypher yang memangkas bukan perbandingan yang setara. Karena itu ada dua pasangan. Rencana eksekusi dibaca dengan EXPLAIN dan diperiksa oleh tes otomatis.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Kebenaran dinilai terhadap jawaban kunci yang dihitung terpisah dengan Python murni dari CSV, tanpa Neo4j, SQLite, atau Cypher. Kasus tepi diuji: pengguna dengan teman terbanyak, pengguna tanpa teman, hobi yang tidak ada.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Pencarian titik sebagian besar dipengaruhi cara pemanggilan: SQLite berjalan di dalam proses, Neo4j lewat jaringan lokal dengan biaya tetap sekitar 0,85 ms per panggilan.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temuan terpenting untuk kejujuran hasil: benchmark awal memperlihatkan Neo4j 8 kali lebih cepat, tetapi pembanding yang setara hanya 1,1 sampai 1,4 kali. Selisih terbesar adalah selisih cara menulis query, bukan selisih penyimpanan.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Jalur terpendek adalah pertanyaan yang paling cocok untuk graf. Di SQL dikerjakan dengan recursive CTE berbentuk pencarian melebar.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Pertanyaan: teman dari teman yang pria berumur 20 sampai 30. S1 semua di SQLite, S2 semua di Neo4j dengan atribut yang diduplikasi, S3 hibrida: id dari Neo4j, filter di SQLite. Ketiganya memberi himpunan yang sama.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Graf sintetis dimuat sementara ke Neo4j dan SQLite lalu dihapus; graf asli diperiksa utuh sesudahnya. Hasil keempat cara identik pada semua graf.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H3 hanya sebagian didukung, dan itu hasil yang jujur: Neo4j lebih cepat mulai 3 relasi dan pada jalur terpendek, selisihnya membesar dengan kedalaman, tetapi pada 1 sampai 2 relasi SQLite lebih cepat.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Manfaatnya bukan Neo4j selalu lebih cepat, melainkan pembagian tugas. Bila hampir semua pertanyaan hanya menyentuh atribut atau 1 sampai 2 relasi pada graf sekecil ini, relasional saja sudah cukup dan lebih murah dipelihara.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Hasil kinerja berlaku untuk skala sampel ini di satu komputer. Graf sintetis hanya sampai sekitar 0,5 juta relasi.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Tautan open access setiap pustaka ada di Daftar Pustaka laporan; beberapa tautan penerbit tidak dapat dibuka otomatis dan ditandai di sana.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spAutoFit/>
          </a:bodyPr>
          <a:lstStyle/>
          <a:p>
            <a:pPr>
              <a:lnSpc>
                <a:spcPct val="110000"/>
              </a:lnSpc>
              <a:spcAft>
                <a:spcPts val="0"/>
              </a:spcAft>
            </a:pPr>
            <a:r>
              <a:rPr sz="1400" b="0">
                <a:solidFill>
                  <a:srgbClr val="9FB3D1"/>
                </a:solidFill>
                <a:latin typeface="Calibri"/>
              </a:rPr>
              <a:t>LAPORAN PENELITIAN  ·  3 OKTOBER 2026</a:t>
            </a:r>
          </a:p>
        </p:txBody>
      </p:sp>
      <p:sp>
        <p:nvSpPr>
          <p:cNvPr id="3" name="TextBox 2"/>
          <p:cNvSpPr txBox="1"/>
          <p:nvPr/>
        </p:nvSpPr>
        <p:spPr>
          <a:xfrm>
            <a:off x="812800" y="1651000"/>
            <a:ext cx="10566400" cy="2413000"/>
          </a:xfrm>
          <a:prstGeom prst="rect">
            <a:avLst/>
          </a:prstGeom>
          <a:noFill/>
        </p:spPr>
        <p:txBody>
          <a:bodyPr wrap="square" lIns="0" rIns="0" tIns="0" bIns="0">
            <a:spAutoFit/>
          </a:bodyPr>
          <a:lstStyle/>
          <a:p>
            <a:pPr>
              <a:lnSpc>
                <a:spcPct val="100000"/>
              </a:lnSpc>
              <a:spcAft>
                <a:spcPts val="0"/>
              </a:spcAft>
            </a:pPr>
            <a:r>
              <a:rPr sz="4800" b="1">
                <a:solidFill>
                  <a:srgbClr val="F7F5EF"/>
                </a:solidFill>
                <a:latin typeface="Georgia"/>
              </a:rPr>
              <a:t>Graph Database dan Relational Database: Bisakah Dikombinasikan?</a:t>
            </a:r>
          </a:p>
        </p:txBody>
      </p:sp>
      <p:sp>
        <p:nvSpPr>
          <p:cNvPr id="4" name="TextBox 3"/>
          <p:cNvSpPr txBox="1"/>
          <p:nvPr/>
        </p:nvSpPr>
        <p:spPr>
          <a:xfrm>
            <a:off x="812800" y="4381500"/>
            <a:ext cx="10566400" cy="444500"/>
          </a:xfrm>
          <a:prstGeom prst="rect">
            <a:avLst/>
          </a:prstGeom>
          <a:noFill/>
        </p:spPr>
        <p:txBody>
          <a:bodyPr wrap="square" lIns="0" rIns="0" tIns="0" bIns="0">
            <a:spAutoFit/>
          </a:bodyPr>
          <a:lstStyle/>
          <a:p>
            <a:pPr>
              <a:lnSpc>
                <a:spcPct val="110000"/>
              </a:lnSpc>
              <a:spcAft>
                <a:spcPts val="0"/>
              </a:spcAft>
            </a:pPr>
            <a:r>
              <a:rPr sz="2200" b="0">
                <a:solidFill>
                  <a:srgbClr val="C9D3E6"/>
                </a:solidFill>
                <a:latin typeface="Calibri"/>
              </a:rPr>
              <a:t>Studi kasus Neo4j dan SQLite pada jejaring sosial Pokec</a:t>
            </a:r>
          </a:p>
        </p:txBody>
      </p:sp>
      <p:sp>
        <p:nvSpPr>
          <p:cNvPr id="5" name="Rounded Rectangle 4"/>
          <p:cNvSpPr/>
          <p:nvPr/>
        </p:nvSpPr>
        <p:spPr>
          <a:xfrm>
            <a:off x="812800" y="5334000"/>
            <a:ext cx="2095500" cy="457200"/>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5334000"/>
            <a:ext cx="2095500" cy="457200"/>
          </a:xfrm>
          <a:prstGeom prst="rect">
            <a:avLst/>
          </a:prstGeom>
          <a:noFill/>
        </p:spPr>
        <p:txBody>
          <a:bodyPr wrap="square" lIns="0" rIns="0" tIns="0" bIns="0" anchor="ctr">
            <a:spAutoFit/>
          </a:bodyPr>
          <a:lstStyle/>
          <a:p>
            <a:pPr algn="ctr">
              <a:lnSpc>
                <a:spcPct val="110000"/>
              </a:lnSpc>
              <a:spcAft>
                <a:spcPts val="0"/>
              </a:spcAft>
            </a:pPr>
            <a:r>
              <a:rPr sz="1600" b="1">
                <a:solidFill>
                  <a:srgbClr val="FFFFFF"/>
                </a:solidFill>
                <a:latin typeface="Calibri"/>
              </a:rPr>
              <a:t>SQLite: profil</a:t>
            </a:r>
          </a:p>
        </p:txBody>
      </p:sp>
      <p:sp>
        <p:nvSpPr>
          <p:cNvPr id="7" name="Rounded Rectangle 6"/>
          <p:cNvSpPr/>
          <p:nvPr/>
        </p:nvSpPr>
        <p:spPr>
          <a:xfrm>
            <a:off x="3060700" y="5334000"/>
            <a:ext cx="2794000" cy="457200"/>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0700" y="5334000"/>
            <a:ext cx="2794000" cy="457200"/>
          </a:xfrm>
          <a:prstGeom prst="rect">
            <a:avLst/>
          </a:prstGeom>
          <a:noFill/>
        </p:spPr>
        <p:txBody>
          <a:bodyPr wrap="square" lIns="0" rIns="0" tIns="0" bIns="0" anchor="ctr">
            <a:spAutoFit/>
          </a:bodyPr>
          <a:lstStyle/>
          <a:p>
            <a:pPr algn="ctr">
              <a:lnSpc>
                <a:spcPct val="110000"/>
              </a:lnSpc>
              <a:spcAft>
                <a:spcPts val="0"/>
              </a:spcAft>
            </a:pPr>
            <a:r>
              <a:rPr sz="1600" b="1">
                <a:solidFill>
                  <a:srgbClr val="14213D"/>
                </a:solidFill>
                <a:latin typeface="Calibri"/>
              </a:rPr>
              <a:t>Python: penghubung</a:t>
            </a:r>
          </a:p>
        </p:txBody>
      </p:sp>
      <p:sp>
        <p:nvSpPr>
          <p:cNvPr id="9" name="Rounded Rectangle 8"/>
          <p:cNvSpPr/>
          <p:nvPr/>
        </p:nvSpPr>
        <p:spPr>
          <a:xfrm>
            <a:off x="6007100" y="5334000"/>
            <a:ext cx="2540000" cy="457200"/>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07100" y="5334000"/>
            <a:ext cx="2540000" cy="457200"/>
          </a:xfrm>
          <a:prstGeom prst="rect">
            <a:avLst/>
          </a:prstGeom>
          <a:noFill/>
        </p:spPr>
        <p:txBody>
          <a:bodyPr wrap="square" lIns="0" rIns="0" tIns="0" bIns="0" anchor="ctr">
            <a:spAutoFit/>
          </a:bodyPr>
          <a:lstStyle/>
          <a:p>
            <a:pPr algn="ctr">
              <a:lnSpc>
                <a:spcPct val="110000"/>
              </a:lnSpc>
              <a:spcAft>
                <a:spcPts val="0"/>
              </a:spcAft>
            </a:pPr>
            <a:r>
              <a:rPr sz="1600" b="1">
                <a:solidFill>
                  <a:srgbClr val="14213D"/>
                </a:solidFill>
                <a:latin typeface="Calibri"/>
              </a:rPr>
              <a:t>Neo4j: hubungan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9E4D6"/>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spAutoFit/>
          </a:bodyPr>
          <a:lstStyle/>
          <a:p>
            <a:pPr>
              <a:lnSpc>
                <a:spcPct val="110000"/>
              </a:lnSpc>
              <a:spcAft>
                <a:spcPts val="0"/>
              </a:spcAft>
            </a:pPr>
            <a:r>
              <a:rPr sz="1400" b="0">
                <a:solidFill>
                  <a:srgbClr val="4A5568"/>
                </a:solidFill>
                <a:latin typeface="Calibri"/>
              </a:rPr>
              <a:t>PERTANYAAN DOSEN</a:t>
            </a:r>
          </a:p>
        </p:txBody>
      </p:sp>
      <p:sp>
        <p:nvSpPr>
          <p:cNvPr id="3" name="TextBox 2"/>
          <p:cNvSpPr txBox="1"/>
          <p:nvPr/>
        </p:nvSpPr>
        <p:spPr>
          <a:xfrm>
            <a:off x="812800" y="1460500"/>
            <a:ext cx="10566400" cy="2286000"/>
          </a:xfrm>
          <a:prstGeom prst="rect">
            <a:avLst/>
          </a:prstGeom>
          <a:noFill/>
        </p:spPr>
        <p:txBody>
          <a:bodyPr wrap="square" lIns="0" rIns="0" tIns="0" bIns="0">
            <a:spAutoFit/>
          </a:bodyPr>
          <a:lstStyle/>
          <a:p>
            <a:pPr>
              <a:lnSpc>
                <a:spcPct val="100000"/>
              </a:lnSpc>
              <a:spcAft>
                <a:spcPts val="0"/>
              </a:spcAft>
            </a:pPr>
            <a:r>
              <a:rPr sz="4800" b="1">
                <a:solidFill>
                  <a:srgbClr val="14213D"/>
                </a:solidFill>
                <a:latin typeface="Georgia"/>
              </a:rPr>
              <a:t>Apakah graph database dapat dikombinasikan dengan relational database biasa?</a:t>
            </a:r>
          </a:p>
        </p:txBody>
      </p:sp>
      <p:sp>
        <p:nvSpPr>
          <p:cNvPr id="4" name="Rounded Rectangle 3"/>
          <p:cNvSpPr/>
          <p:nvPr/>
        </p:nvSpPr>
        <p:spPr>
          <a:xfrm>
            <a:off x="812800" y="4381500"/>
            <a:ext cx="3386666" cy="1587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4559300"/>
            <a:ext cx="2980266" cy="3810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40 tes</a:t>
            </a:r>
          </a:p>
        </p:txBody>
      </p:sp>
      <p:sp>
        <p:nvSpPr>
          <p:cNvPr id="6" name="TextBox 5"/>
          <p:cNvSpPr txBox="1"/>
          <p:nvPr/>
        </p:nvSpPr>
        <p:spPr>
          <a:xfrm>
            <a:off x="1016000" y="5016500"/>
            <a:ext cx="2980266" cy="825500"/>
          </a:xfrm>
          <a:prstGeom prst="rect">
            <a:avLst/>
          </a:prstGeom>
          <a:noFill/>
        </p:spPr>
        <p:txBody>
          <a:bodyPr wrap="square" lIns="0" rIns="0" tIns="0" bIns="0">
            <a:spAutoFit/>
          </a:bodyPr>
          <a:lstStyle/>
          <a:p>
            <a:pPr>
              <a:lnSpc>
                <a:spcPct val="110000"/>
              </a:lnSpc>
              <a:spcAft>
                <a:spcPts val="0"/>
              </a:spcAft>
            </a:pPr>
            <a:r>
              <a:rPr sz="1400" b="0">
                <a:solidFill>
                  <a:srgbClr val="14213D"/>
                </a:solidFill>
                <a:latin typeface="Calibri"/>
              </a:rPr>
              <a:t>kebenaran, dibandingkan dengan jawaban kunci Python murni</a:t>
            </a:r>
          </a:p>
        </p:txBody>
      </p:sp>
      <p:sp>
        <p:nvSpPr>
          <p:cNvPr id="7" name="Rounded Rectangle 6"/>
          <p:cNvSpPr/>
          <p:nvPr/>
        </p:nvSpPr>
        <p:spPr>
          <a:xfrm>
            <a:off x="4402666" y="4381500"/>
            <a:ext cx="3386666" cy="1587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5866" y="4559300"/>
            <a:ext cx="2980266" cy="381000"/>
          </a:xfrm>
          <a:prstGeom prst="rect">
            <a:avLst/>
          </a:prstGeom>
          <a:noFill/>
        </p:spPr>
        <p:txBody>
          <a:bodyPr wrap="square" lIns="0" rIns="0" tIns="0" bIns="0">
            <a:spAutoFit/>
          </a:bodyPr>
          <a:lstStyle/>
          <a:p>
            <a:pPr>
              <a:lnSpc>
                <a:spcPct val="110000"/>
              </a:lnSpc>
              <a:spcAft>
                <a:spcPts val="0"/>
              </a:spcAft>
            </a:pPr>
            <a:r>
              <a:rPr sz="2200" b="1">
                <a:solidFill>
                  <a:srgbClr val="B8431A"/>
                </a:solidFill>
                <a:latin typeface="Calibri"/>
              </a:rPr>
              <a:t>14 pasangan</a:t>
            </a:r>
          </a:p>
        </p:txBody>
      </p:sp>
      <p:sp>
        <p:nvSpPr>
          <p:cNvPr id="9" name="TextBox 8"/>
          <p:cNvSpPr txBox="1"/>
          <p:nvPr/>
        </p:nvSpPr>
        <p:spPr>
          <a:xfrm>
            <a:off x="4605866" y="5016500"/>
            <a:ext cx="2980266" cy="825500"/>
          </a:xfrm>
          <a:prstGeom prst="rect">
            <a:avLst/>
          </a:prstGeom>
          <a:noFill/>
        </p:spPr>
        <p:txBody>
          <a:bodyPr wrap="square" lIns="0" rIns="0" tIns="0" bIns="0">
            <a:spAutoFit/>
          </a:bodyPr>
          <a:lstStyle/>
          <a:p>
            <a:pPr>
              <a:lnSpc>
                <a:spcPct val="110000"/>
              </a:lnSpc>
              <a:spcAft>
                <a:spcPts val="0"/>
              </a:spcAft>
            </a:pPr>
            <a:r>
              <a:rPr sz="1400" b="0">
                <a:solidFill>
                  <a:srgbClr val="14213D"/>
                </a:solidFill>
                <a:latin typeface="Calibri"/>
              </a:rPr>
              <a:t>pertanyaan yang dijawab di SQLite dan di Neo4j; hasil harus identik</a:t>
            </a:r>
          </a:p>
        </p:txBody>
      </p:sp>
      <p:sp>
        <p:nvSpPr>
          <p:cNvPr id="10" name="Rounded Rectangle 9"/>
          <p:cNvSpPr/>
          <p:nvPr/>
        </p:nvSpPr>
        <p:spPr>
          <a:xfrm>
            <a:off x="7992533" y="4381500"/>
            <a:ext cx="3386666" cy="1587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5733" y="4559300"/>
            <a:ext cx="2980266" cy="381000"/>
          </a:xfrm>
          <a:prstGeom prst="rect">
            <a:avLst/>
          </a:prstGeom>
          <a:noFill/>
        </p:spPr>
        <p:txBody>
          <a:bodyPr wrap="square" lIns="0" rIns="0" tIns="0" bIns="0">
            <a:spAutoFit/>
          </a:bodyPr>
          <a:lstStyle/>
          <a:p>
            <a:pPr>
              <a:lnSpc>
                <a:spcPct val="110000"/>
              </a:lnSpc>
              <a:spcAft>
                <a:spcPts val="0"/>
              </a:spcAft>
            </a:pPr>
            <a:r>
              <a:rPr sz="2200" b="1">
                <a:solidFill>
                  <a:srgbClr val="0E7A55"/>
                </a:solidFill>
                <a:latin typeface="Calibri"/>
              </a:rPr>
              <a:t>Biaya</a:t>
            </a:r>
          </a:p>
        </p:txBody>
      </p:sp>
      <p:sp>
        <p:nvSpPr>
          <p:cNvPr id="12" name="TextBox 11"/>
          <p:cNvSpPr txBox="1"/>
          <p:nvPr/>
        </p:nvSpPr>
        <p:spPr>
          <a:xfrm>
            <a:off x="8195733" y="5016500"/>
            <a:ext cx="2980266" cy="825500"/>
          </a:xfrm>
          <a:prstGeom prst="rect">
            <a:avLst/>
          </a:prstGeom>
          <a:noFill/>
        </p:spPr>
        <p:txBody>
          <a:bodyPr wrap="square" lIns="0" rIns="0" tIns="0" bIns="0">
            <a:spAutoFit/>
          </a:bodyPr>
          <a:lstStyle/>
          <a:p>
            <a:pPr>
              <a:lnSpc>
                <a:spcPct val="110000"/>
              </a:lnSpc>
              <a:spcAft>
                <a:spcPts val="0"/>
              </a:spcAft>
            </a:pPr>
            <a:r>
              <a:rPr sz="1400" b="0">
                <a:solidFill>
                  <a:srgbClr val="14213D"/>
                </a:solidFill>
                <a:latin typeface="Calibri"/>
              </a:rPr>
              <a:t>data ganda, ongkos lintas batas, dan sinkronisasi diukur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Dua cara menyimpan data yang saling terhubung</a:t>
            </a:r>
          </a:p>
        </p:txBody>
      </p:sp>
      <p:sp>
        <p:nvSpPr>
          <p:cNvPr id="3" name="Rounded Rectangle 2"/>
          <p:cNvSpPr/>
          <p:nvPr/>
        </p:nvSpPr>
        <p:spPr>
          <a:xfrm>
            <a:off x="812800" y="1587500"/>
            <a:ext cx="5156200" cy="26670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800" y="1587500"/>
            <a:ext cx="5156200"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1841500"/>
            <a:ext cx="4648200" cy="3810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Relasional (SQLite)</a:t>
            </a:r>
          </a:p>
        </p:txBody>
      </p:sp>
      <p:sp>
        <p:nvSpPr>
          <p:cNvPr id="6" name="TextBox 5"/>
          <p:cNvSpPr txBox="1"/>
          <p:nvPr/>
        </p:nvSpPr>
        <p:spPr>
          <a:xfrm>
            <a:off x="1066800" y="2413000"/>
            <a:ext cx="4648200" cy="1714500"/>
          </a:xfrm>
          <a:prstGeom prst="rect">
            <a:avLst/>
          </a:prstGeom>
          <a:noFill/>
        </p:spPr>
        <p:txBody>
          <a:bodyPr wrap="square" lIns="0" rIns="0" tIns="0" bIns="0">
            <a:spAutoFit/>
          </a:bodyPr>
          <a:lstStyle/>
          <a:p>
            <a:pPr marL="254000" indent="-254000">
              <a:lnSpc>
                <a:spcPct val="115000"/>
              </a:lnSpc>
              <a:spcAft>
                <a:spcPts val="600"/>
              </a:spcAft>
              <a:buChar char="•"/>
            </a:pPr>
            <a:r>
              <a:rPr sz="1600" b="0">
                <a:solidFill>
                  <a:srgbClr val="14213D"/>
                </a:solidFill>
                <a:latin typeface="Calibri"/>
              </a:rPr>
              <a:t>Tabel, baris, kunci asing</a:t>
            </a:r>
          </a:p>
          <a:p>
            <a:pPr marL="254000" indent="-254000">
              <a:lnSpc>
                <a:spcPct val="115000"/>
              </a:lnSpc>
              <a:spcAft>
                <a:spcPts val="600"/>
              </a:spcAft>
              <a:buChar char="•"/>
            </a:pPr>
            <a:r>
              <a:rPr sz="1600" b="0">
                <a:solidFill>
                  <a:srgbClr val="14213D"/>
                </a:solidFill>
                <a:latin typeface="Calibri"/>
              </a:rPr>
              <a:t>SQL deklaratif; hubungan lewat join</a:t>
            </a:r>
          </a:p>
          <a:p>
            <a:pPr marL="254000" indent="-254000">
              <a:lnSpc>
                <a:spcPct val="115000"/>
              </a:lnSpc>
              <a:spcAft>
                <a:spcPts val="600"/>
              </a:spcAft>
              <a:buChar char="•"/>
            </a:pPr>
            <a:r>
              <a:rPr sz="1600" b="0">
                <a:solidFill>
                  <a:srgbClr val="14213D"/>
                </a:solidFill>
                <a:latin typeface="Calibri"/>
              </a:rPr>
              <a:t>Indeks B-tree untuk pencarian cepat</a:t>
            </a:r>
          </a:p>
          <a:p>
            <a:pPr marL="254000" indent="-254000">
              <a:lnSpc>
                <a:spcPct val="115000"/>
              </a:lnSpc>
              <a:spcAft>
                <a:spcPts val="600"/>
              </a:spcAft>
              <a:buChar char="•"/>
            </a:pPr>
            <a:r>
              <a:rPr sz="1600" b="0">
                <a:solidFill>
                  <a:srgbClr val="14213D"/>
                </a:solidFill>
                <a:latin typeface="Calibri"/>
              </a:rPr>
              <a:t>Tertanam di proses, tanpa server</a:t>
            </a:r>
          </a:p>
        </p:txBody>
      </p:sp>
      <p:sp>
        <p:nvSpPr>
          <p:cNvPr id="7" name="Rounded Rectangle 6"/>
          <p:cNvSpPr/>
          <p:nvPr/>
        </p:nvSpPr>
        <p:spPr>
          <a:xfrm>
            <a:off x="6223000" y="1587500"/>
            <a:ext cx="5156200" cy="26670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23000" y="1587500"/>
            <a:ext cx="5156200" cy="508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7000" y="1841500"/>
            <a:ext cx="4648200" cy="381000"/>
          </a:xfrm>
          <a:prstGeom prst="rect">
            <a:avLst/>
          </a:prstGeom>
          <a:noFill/>
        </p:spPr>
        <p:txBody>
          <a:bodyPr wrap="square" lIns="0" rIns="0" tIns="0" bIns="0">
            <a:spAutoFit/>
          </a:bodyPr>
          <a:lstStyle/>
          <a:p>
            <a:pPr>
              <a:lnSpc>
                <a:spcPct val="110000"/>
              </a:lnSpc>
              <a:spcAft>
                <a:spcPts val="0"/>
              </a:spcAft>
            </a:pPr>
            <a:r>
              <a:rPr sz="2200" b="1">
                <a:solidFill>
                  <a:srgbClr val="B8431A"/>
                </a:solidFill>
                <a:latin typeface="Calibri"/>
              </a:rPr>
              <a:t>Graf (Neo4j)</a:t>
            </a:r>
          </a:p>
        </p:txBody>
      </p:sp>
      <p:sp>
        <p:nvSpPr>
          <p:cNvPr id="10" name="TextBox 9"/>
          <p:cNvSpPr txBox="1"/>
          <p:nvPr/>
        </p:nvSpPr>
        <p:spPr>
          <a:xfrm>
            <a:off x="6477000" y="2413000"/>
            <a:ext cx="4648200" cy="1714500"/>
          </a:xfrm>
          <a:prstGeom prst="rect">
            <a:avLst/>
          </a:prstGeom>
          <a:noFill/>
        </p:spPr>
        <p:txBody>
          <a:bodyPr wrap="square" lIns="0" rIns="0" tIns="0" bIns="0">
            <a:spAutoFit/>
          </a:bodyPr>
          <a:lstStyle/>
          <a:p>
            <a:pPr marL="254000" indent="-254000">
              <a:lnSpc>
                <a:spcPct val="115000"/>
              </a:lnSpc>
              <a:spcAft>
                <a:spcPts val="600"/>
              </a:spcAft>
              <a:buChar char="•"/>
            </a:pPr>
            <a:r>
              <a:rPr sz="1600" b="0">
                <a:solidFill>
                  <a:srgbClr val="14213D"/>
                </a:solidFill>
                <a:latin typeface="Calibri"/>
              </a:rPr>
              <a:t>Node, relasi, dan properti</a:t>
            </a:r>
          </a:p>
          <a:p>
            <a:pPr marL="254000" indent="-254000">
              <a:lnSpc>
                <a:spcPct val="115000"/>
              </a:lnSpc>
              <a:spcAft>
                <a:spcPts val="600"/>
              </a:spcAft>
              <a:buChar char="•"/>
            </a:pPr>
            <a:r>
              <a:rPr sz="1600" b="0">
                <a:solidFill>
                  <a:srgbClr val="14213D"/>
                </a:solidFill>
                <a:latin typeface="Calibri"/>
              </a:rPr>
              <a:t>Cypher: pola graf ditulis langsung</a:t>
            </a:r>
          </a:p>
          <a:p>
            <a:pPr marL="254000" indent="-254000">
              <a:lnSpc>
                <a:spcPct val="115000"/>
              </a:lnSpc>
              <a:spcAft>
                <a:spcPts val="600"/>
              </a:spcAft>
              <a:buChar char="•"/>
            </a:pPr>
            <a:r>
              <a:rPr sz="1600" b="0">
                <a:solidFill>
                  <a:srgbClr val="14213D"/>
                </a:solidFill>
                <a:latin typeface="Calibri"/>
              </a:rPr>
              <a:t>Penelusuran tetangga tanpa join</a:t>
            </a:r>
          </a:p>
          <a:p>
            <a:pPr marL="254000" indent="-254000">
              <a:lnSpc>
                <a:spcPct val="115000"/>
              </a:lnSpc>
              <a:spcAft>
                <a:spcPts val="600"/>
              </a:spcAft>
              <a:buChar char="•"/>
            </a:pPr>
            <a:r>
              <a:rPr sz="1600" b="0">
                <a:solidFill>
                  <a:srgbClr val="14213D"/>
                </a:solidFill>
                <a:latin typeface="Calibri"/>
              </a:rPr>
              <a:t>Server terpisah, dipanggil lewat Bolt</a:t>
            </a:r>
          </a:p>
        </p:txBody>
      </p:sp>
      <p:sp>
        <p:nvSpPr>
          <p:cNvPr id="11" name="TextBox 10"/>
          <p:cNvSpPr txBox="1"/>
          <p:nvPr/>
        </p:nvSpPr>
        <p:spPr>
          <a:xfrm>
            <a:off x="812800" y="4635500"/>
            <a:ext cx="10566400" cy="952500"/>
          </a:xfrm>
          <a:prstGeom prst="rect">
            <a:avLst/>
          </a:prstGeom>
          <a:noFill/>
        </p:spPr>
        <p:txBody>
          <a:bodyPr wrap="square" lIns="0" rIns="0" tIns="0" bIns="0">
            <a:spAutoFit/>
          </a:bodyPr>
          <a:lstStyle/>
          <a:p>
            <a:pPr>
              <a:lnSpc>
                <a:spcPct val="120000"/>
              </a:lnSpc>
              <a:spcAft>
                <a:spcPts val="0"/>
              </a:spcAft>
            </a:pPr>
            <a:r>
              <a:rPr sz="1600" b="0">
                <a:solidFill>
                  <a:srgbClr val="14213D"/>
                </a:solidFill>
                <a:latin typeface="Calibri"/>
              </a:rPr>
              <a:t>Sistem nyata sering memakai keduanya: </a:t>
            </a:r>
            <a:r>
              <a:rPr sz="1600" b="1">
                <a:solidFill>
                  <a:srgbClr val="14213D"/>
                </a:solidFill>
                <a:latin typeface="Calibri"/>
              </a:rPr>
              <a:t>polyglot persistence</a:t>
            </a:r>
            <a:r>
              <a:rPr sz="1600" b="0">
                <a:solidFill>
                  <a:srgbClr val="14213D"/>
                </a:solidFill>
                <a:latin typeface="Calibri"/>
              </a:rPr>
              <a:t> (Fowler, 2011). Yang belum jelas adalah apa untungnya, apa ruginya, dan apakah hasilnya tetap benar.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Lima pertanyaan penelitian dan hipotesisnya</a:t>
            </a:r>
          </a:p>
        </p:txBody>
      </p:sp>
      <p:graphicFrame>
        <p:nvGraphicFramePr>
          <p:cNvPr id="3" name="Table 2"/>
          <p:cNvGraphicFramePr>
            <a:graphicFrameLocks noGrp="1"/>
          </p:cNvGraphicFramePr>
          <p:nvPr/>
        </p:nvGraphicFramePr>
        <p:xfrm>
          <a:off x="812800" y="1587500"/>
          <a:ext cx="10566400" cy="3106928"/>
        </p:xfrm>
        <a:graphic>
          <a:graphicData uri="http://schemas.openxmlformats.org/drawingml/2006/table">
            <a:tbl>
              <a:tblPr firstRow="1" bandRow="1">
                <a:tableStyleId>{5C22544A-7EE6-4342-B048-85BDC9FD1C3A}</a:tableStyleId>
              </a:tblPr>
              <a:tblGrid>
                <a:gridCol w="2324608"/>
                <a:gridCol w="4015232"/>
                <a:gridCol w="4226560"/>
              </a:tblGrid>
              <a:tr h="445516">
                <a:tc>
                  <a:txBody>
                    <a:bodyPr/>
                    <a:lstStyle/>
                    <a:p>
                      <a:r>
                        <a:rPr sz="1400" b="1">
                          <a:solidFill>
                            <a:srgbClr val="FFFFFF"/>
                          </a:solidFill>
                          <a:latin typeface="Calibri"/>
                        </a:rPr>
                        <a:t>Pertanyaan</a:t>
                      </a:r>
                    </a:p>
                  </a:txBody>
                  <a:tcPr marL="127000" marR="127000" marT="63500" marB="63500" anchor="ctr">
                    <a:solidFill>
                      <a:srgbClr val="14213D"/>
                    </a:solidFill>
                  </a:tcPr>
                </a:tc>
                <a:tc>
                  <a:txBody>
                    <a:bodyPr/>
                    <a:lstStyle/>
                    <a:p>
                      <a:r>
                        <a:rPr sz="1400" b="1">
                          <a:solidFill>
                            <a:srgbClr val="FFFFFF"/>
                          </a:solidFill>
                          <a:latin typeface="Calibri"/>
                        </a:rPr>
                        <a:t>Yang diuji</a:t>
                      </a:r>
                    </a:p>
                  </a:txBody>
                  <a:tcPr marL="127000" marR="127000" marT="63500" marB="63500" anchor="ctr">
                    <a:solidFill>
                      <a:srgbClr val="14213D"/>
                    </a:solidFill>
                  </a:tcPr>
                </a:tc>
                <a:tc>
                  <a:txBody>
                    <a:bodyPr/>
                    <a:lstStyle/>
                    <a:p>
                      <a:r>
                        <a:rPr sz="1400" b="1">
                          <a:solidFill>
                            <a:srgbClr val="FFFFFF"/>
                          </a:solidFill>
                          <a:latin typeface="Calibri"/>
                        </a:rPr>
                        <a:t>Hipotesis (ditetapkan sebelum hasil dilihat)</a:t>
                      </a:r>
                    </a:p>
                  </a:txBody>
                  <a:tcPr marL="127000" marR="127000" marT="63500" marB="63500" anchor="ctr">
                    <a:solidFill>
                      <a:srgbClr val="14213D"/>
                    </a:solidFill>
                  </a:tcPr>
                </a:tc>
              </a:tr>
              <a:tr h="662432">
                <a:tc>
                  <a:txBody>
                    <a:bodyPr/>
                    <a:lstStyle/>
                    <a:p>
                      <a:r>
                        <a:rPr sz="1400" b="0">
                          <a:solidFill>
                            <a:srgbClr val="14213D"/>
                          </a:solidFill>
                          <a:latin typeface="Calibri"/>
                        </a:rPr>
                        <a:t>RQ1 Kelayakan</a:t>
                      </a:r>
                    </a:p>
                  </a:txBody>
                  <a:tcPr marL="127000" marR="127000" marT="63500" marB="63500" anchor="ctr">
                    <a:solidFill>
                      <a:srgbClr val="FBFAF6"/>
                    </a:solidFill>
                  </a:tcPr>
                </a:tc>
                <a:tc>
                  <a:txBody>
                    <a:bodyPr/>
                    <a:lstStyle/>
                    <a:p>
                      <a:r>
                        <a:rPr sz="1400" b="0">
                          <a:solidFill>
                            <a:srgbClr val="14213D"/>
                          </a:solidFill>
                          <a:latin typeface="Calibri"/>
                        </a:rPr>
                        <a:t>Kedua basis data diisi dari satu sumber dan konsisten?</a:t>
                      </a:r>
                    </a:p>
                  </a:txBody>
                  <a:tcPr marL="127000" marR="127000" marT="63500" marB="63500" anchor="ctr">
                    <a:solidFill>
                      <a:srgbClr val="FBFAF6"/>
                    </a:solidFill>
                  </a:tcPr>
                </a:tc>
                <a:tc>
                  <a:txBody>
                    <a:bodyPr/>
                    <a:lstStyle/>
                    <a:p>
                      <a:r>
                        <a:rPr sz="1400" b="0">
                          <a:solidFill>
                            <a:srgbClr val="14213D"/>
                          </a:solidFill>
                          <a:latin typeface="Calibri"/>
                        </a:rPr>
                        <a:t>H1: isi identik, hasil gabungan benar</a:t>
                      </a:r>
                    </a:p>
                  </a:txBody>
                  <a:tcPr marL="127000" marR="127000" marT="63500" marB="63500" anchor="ctr">
                    <a:solidFill>
                      <a:srgbClr val="FBFAF6"/>
                    </a:solidFill>
                  </a:tcPr>
                </a:tc>
              </a:tr>
              <a:tr h="445516">
                <a:tc>
                  <a:txBody>
                    <a:bodyPr/>
                    <a:lstStyle/>
                    <a:p>
                      <a:r>
                        <a:rPr sz="1400" b="0">
                          <a:solidFill>
                            <a:srgbClr val="14213D"/>
                          </a:solidFill>
                          <a:latin typeface="Calibri"/>
                        </a:rPr>
                        <a:t>RQ2 Kebenaran</a:t>
                      </a:r>
                    </a:p>
                  </a:txBody>
                  <a:tcPr marL="127000" marR="127000" marT="63500" marB="63500" anchor="ctr">
                    <a:solidFill>
                      <a:srgbClr val="F1EEE4"/>
                    </a:solidFill>
                  </a:tcPr>
                </a:tc>
                <a:tc>
                  <a:txBody>
                    <a:bodyPr/>
                    <a:lstStyle/>
                    <a:p>
                      <a:r>
                        <a:rPr sz="1400" b="0">
                          <a:solidFill>
                            <a:srgbClr val="14213D"/>
                          </a:solidFill>
                          <a:latin typeface="Calibri"/>
                        </a:rPr>
                        <a:t>Query gabungan memberi jawaban yang benar?</a:t>
                      </a:r>
                    </a:p>
                  </a:txBody>
                  <a:tcPr marL="127000" marR="127000" marT="63500" marB="63500" anchor="ctr">
                    <a:solidFill>
                      <a:srgbClr val="F1EEE4"/>
                    </a:solidFill>
                  </a:tcPr>
                </a:tc>
                <a:tc>
                  <a:txBody>
                    <a:bodyPr/>
                    <a:lstStyle/>
                    <a:p>
                      <a:r>
                        <a:rPr sz="1400" b="0">
                          <a:solidFill>
                            <a:srgbClr val="14213D"/>
                          </a:solidFill>
                          <a:latin typeface="Calibri"/>
                        </a:rPr>
                        <a:t>H1 (sama)</a:t>
                      </a:r>
                    </a:p>
                  </a:txBody>
                  <a:tcPr marL="127000" marR="127000" marT="63500" marB="63500" anchor="ctr">
                    <a:solidFill>
                      <a:srgbClr val="F1EEE4"/>
                    </a:solidFill>
                  </a:tcPr>
                </a:tc>
              </a:tr>
              <a:tr h="445516">
                <a:tc>
                  <a:txBody>
                    <a:bodyPr/>
                    <a:lstStyle/>
                    <a:p>
                      <a:r>
                        <a:rPr sz="1400" b="0">
                          <a:solidFill>
                            <a:srgbClr val="14213D"/>
                          </a:solidFill>
                          <a:latin typeface="Calibri"/>
                        </a:rPr>
                        <a:t>RQ3 Pembagian tugas</a:t>
                      </a:r>
                    </a:p>
                  </a:txBody>
                  <a:tcPr marL="127000" marR="127000" marT="63500" marB="63500" anchor="ctr">
                    <a:solidFill>
                      <a:srgbClr val="FBFAF6"/>
                    </a:solidFill>
                  </a:tcPr>
                </a:tc>
                <a:tc>
                  <a:txBody>
                    <a:bodyPr/>
                    <a:lstStyle/>
                    <a:p>
                      <a:r>
                        <a:rPr sz="1400" b="0">
                          <a:solidFill>
                            <a:srgbClr val="14213D"/>
                          </a:solidFill>
                          <a:latin typeface="Calibri"/>
                        </a:rPr>
                        <a:t>Pertanyaan sama, hasil identik?</a:t>
                      </a:r>
                    </a:p>
                  </a:txBody>
                  <a:tcPr marL="127000" marR="127000" marT="63500" marB="63500" anchor="ctr">
                    <a:solidFill>
                      <a:srgbClr val="FBFAF6"/>
                    </a:solidFill>
                  </a:tcPr>
                </a:tc>
                <a:tc>
                  <a:txBody>
                    <a:bodyPr/>
                    <a:lstStyle/>
                    <a:p>
                      <a:r>
                        <a:rPr sz="1400" b="0">
                          <a:solidFill>
                            <a:srgbClr val="14213D"/>
                          </a:solidFill>
                          <a:latin typeface="Calibri"/>
                        </a:rPr>
                        <a:t>H2: beda di kinerja, bukan kebenaran</a:t>
                      </a:r>
                    </a:p>
                  </a:txBody>
                  <a:tcPr marL="127000" marR="127000" marT="63500" marB="63500" anchor="ctr">
                    <a:solidFill>
                      <a:srgbClr val="FBFAF6"/>
                    </a:solidFill>
                  </a:tcPr>
                </a:tc>
              </a:tr>
              <a:tr h="662432">
                <a:tc>
                  <a:txBody>
                    <a:bodyPr/>
                    <a:lstStyle/>
                    <a:p>
                      <a:r>
                        <a:rPr sz="1400" b="0">
                          <a:solidFill>
                            <a:srgbClr val="14213D"/>
                          </a:solidFill>
                          <a:latin typeface="Calibri"/>
                        </a:rPr>
                        <a:t>RQ4 Kinerja</a:t>
                      </a:r>
                    </a:p>
                  </a:txBody>
                  <a:tcPr marL="127000" marR="127000" marT="63500" marB="63500" anchor="ctr">
                    <a:solidFill>
                      <a:srgbClr val="F1EEE4"/>
                    </a:solidFill>
                  </a:tcPr>
                </a:tc>
                <a:tc>
                  <a:txBody>
                    <a:bodyPr/>
                    <a:lstStyle/>
                    <a:p>
                      <a:r>
                        <a:rPr sz="1400" b="0">
                          <a:solidFill>
                            <a:srgbClr val="14213D"/>
                          </a:solidFill>
                          <a:latin typeface="Calibri"/>
                        </a:rPr>
                        <a:t>Kapan masing-masing lebih cepat?</a:t>
                      </a:r>
                    </a:p>
                  </a:txBody>
                  <a:tcPr marL="127000" marR="127000" marT="63500" marB="63500" anchor="ctr">
                    <a:solidFill>
                      <a:srgbClr val="F1EEE4"/>
                    </a:solidFill>
                  </a:tcPr>
                </a:tc>
                <a:tc>
                  <a:txBody>
                    <a:bodyPr/>
                    <a:lstStyle/>
                    <a:p>
                      <a:r>
                        <a:rPr sz="1400" b="0">
                          <a:solidFill>
                            <a:srgbClr val="14213D"/>
                          </a:solidFill>
                          <a:latin typeface="Calibri"/>
                        </a:rPr>
                        <a:t>H3: Neo4j lebih cepat multi-hop. H4: SQLite lebih cepat titik dan agregasi</a:t>
                      </a:r>
                    </a:p>
                  </a:txBody>
                  <a:tcPr marL="127000" marR="127000" marT="63500" marB="63500" anchor="ctr">
                    <a:solidFill>
                      <a:srgbClr val="F1EEE4"/>
                    </a:solidFill>
                  </a:tcPr>
                </a:tc>
              </a:tr>
              <a:tr h="445516">
                <a:tc>
                  <a:txBody>
                    <a:bodyPr/>
                    <a:lstStyle/>
                    <a:p>
                      <a:r>
                        <a:rPr sz="1400" b="0">
                          <a:solidFill>
                            <a:srgbClr val="14213D"/>
                          </a:solidFill>
                          <a:latin typeface="Calibri"/>
                        </a:rPr>
                        <a:t>RQ5 Pemeliharaan</a:t>
                      </a:r>
                    </a:p>
                  </a:txBody>
                  <a:tcPr marL="127000" marR="127000" marT="63500" marB="63500" anchor="ctr">
                    <a:solidFill>
                      <a:srgbClr val="FBFAF6"/>
                    </a:solidFill>
                  </a:tcPr>
                </a:tc>
                <a:tc>
                  <a:txBody>
                    <a:bodyPr/>
                    <a:lstStyle/>
                    <a:p>
                      <a:r>
                        <a:rPr sz="1400" b="0">
                          <a:solidFill>
                            <a:srgbClr val="14213D"/>
                          </a:solidFill>
                          <a:latin typeface="Calibri"/>
                        </a:rPr>
                        <a:t>Biaya data ganda dan sinkronisasi?</a:t>
                      </a:r>
                    </a:p>
                  </a:txBody>
                  <a:tcPr marL="127000" marR="127000" marT="63500" marB="63500" anchor="ctr">
                    <a:solidFill>
                      <a:srgbClr val="FBFAF6"/>
                    </a:solidFill>
                  </a:tcPr>
                </a:tc>
                <a:tc>
                  <a:txBody>
                    <a:bodyPr/>
                    <a:lstStyle/>
                    <a:p>
                      <a:r>
                        <a:rPr sz="1400" b="0">
                          <a:solidFill>
                            <a:srgbClr val="14213D"/>
                          </a:solidFill>
                          <a:latin typeface="Calibri"/>
                        </a:rPr>
                        <a:t>H5: ketidaksinkronan terdeteksi otomatis</a:t>
                      </a:r>
                    </a:p>
                  </a:txBody>
                  <a:tcPr marL="127000" marR="127000" marT="63500" marB="63500" anchor="ctr">
                    <a:solidFill>
                      <a:srgbClr val="FBFAF6"/>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Data: sampel jejaring sosial Pokec</a:t>
            </a:r>
          </a:p>
        </p:txBody>
      </p:sp>
      <p:sp>
        <p:nvSpPr>
          <p:cNvPr id="3" name="Rounded Rectangle 2"/>
          <p:cNvSpPr/>
          <p:nvPr/>
        </p:nvSpPr>
        <p:spPr>
          <a:xfrm>
            <a:off x="812800" y="1587500"/>
            <a:ext cx="5181600" cy="24130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800" y="1778000"/>
            <a:ext cx="4673600" cy="254000"/>
          </a:xfrm>
          <a:prstGeom prst="rect">
            <a:avLst/>
          </a:prstGeom>
          <a:noFill/>
        </p:spPr>
        <p:txBody>
          <a:bodyPr wrap="square" lIns="0" rIns="0" tIns="0" bIns="0">
            <a:spAutoFit/>
          </a:bodyPr>
          <a:lstStyle/>
          <a:p>
            <a:pPr>
              <a:lnSpc>
                <a:spcPct val="110000"/>
              </a:lnSpc>
              <a:spcAft>
                <a:spcPts val="0"/>
              </a:spcAft>
            </a:pPr>
            <a:r>
              <a:rPr sz="1400" b="0">
                <a:solidFill>
                  <a:srgbClr val="4A5568"/>
                </a:solidFill>
                <a:latin typeface="Calibri"/>
              </a:rPr>
              <a:t>Seluruh Pokec (SNAP)</a:t>
            </a:r>
          </a:p>
        </p:txBody>
      </p:sp>
      <p:sp>
        <p:nvSpPr>
          <p:cNvPr id="5" name="TextBox 4"/>
          <p:cNvSpPr txBox="1"/>
          <p:nvPr/>
        </p:nvSpPr>
        <p:spPr>
          <a:xfrm>
            <a:off x="1066800" y="2044700"/>
            <a:ext cx="4673600" cy="571500"/>
          </a:xfrm>
          <a:prstGeom prst="rect">
            <a:avLst/>
          </a:prstGeom>
          <a:noFill/>
        </p:spPr>
        <p:txBody>
          <a:bodyPr wrap="square" lIns="0" rIns="0" tIns="0" bIns="0">
            <a:spAutoFit/>
          </a:bodyPr>
          <a:lstStyle/>
          <a:p>
            <a:pPr>
              <a:lnSpc>
                <a:spcPct val="110000"/>
              </a:lnSpc>
              <a:spcAft>
                <a:spcPts val="0"/>
              </a:spcAft>
            </a:pPr>
            <a:r>
              <a:rPr sz="3200" b="1">
                <a:solidFill>
                  <a:srgbClr val="14213D"/>
                </a:solidFill>
                <a:latin typeface="Georgia"/>
              </a:rPr>
              <a:t>1.632.803</a:t>
            </a:r>
          </a:p>
        </p:txBody>
      </p:sp>
      <p:sp>
        <p:nvSpPr>
          <p:cNvPr id="6" name="TextBox 5"/>
          <p:cNvSpPr txBox="1"/>
          <p:nvPr/>
        </p:nvSpPr>
        <p:spPr>
          <a:xfrm>
            <a:off x="1066800" y="2654300"/>
            <a:ext cx="4673600" cy="254000"/>
          </a:xfrm>
          <a:prstGeom prst="rect">
            <a:avLst/>
          </a:prstGeom>
          <a:noFill/>
        </p:spPr>
        <p:txBody>
          <a:bodyPr wrap="square" lIns="0" rIns="0" tIns="0" bIns="0">
            <a:spAutoFit/>
          </a:bodyPr>
          <a:lstStyle/>
          <a:p>
            <a:pPr>
              <a:lnSpc>
                <a:spcPct val="110000"/>
              </a:lnSpc>
              <a:spcAft>
                <a:spcPts val="0"/>
              </a:spcAft>
            </a:pPr>
            <a:r>
              <a:rPr sz="1400" b="0">
                <a:solidFill>
                  <a:srgbClr val="4A5568"/>
                </a:solidFill>
                <a:latin typeface="Calibri"/>
              </a:rPr>
              <a:t>pengguna</a:t>
            </a:r>
          </a:p>
        </p:txBody>
      </p:sp>
      <p:sp>
        <p:nvSpPr>
          <p:cNvPr id="7" name="TextBox 6"/>
          <p:cNvSpPr txBox="1"/>
          <p:nvPr/>
        </p:nvSpPr>
        <p:spPr>
          <a:xfrm>
            <a:off x="1066800" y="2933700"/>
            <a:ext cx="4673600" cy="571500"/>
          </a:xfrm>
          <a:prstGeom prst="rect">
            <a:avLst/>
          </a:prstGeom>
          <a:noFill/>
        </p:spPr>
        <p:txBody>
          <a:bodyPr wrap="square" lIns="0" rIns="0" tIns="0" bIns="0">
            <a:spAutoFit/>
          </a:bodyPr>
          <a:lstStyle/>
          <a:p>
            <a:pPr>
              <a:lnSpc>
                <a:spcPct val="110000"/>
              </a:lnSpc>
              <a:spcAft>
                <a:spcPts val="0"/>
              </a:spcAft>
            </a:pPr>
            <a:r>
              <a:rPr sz="3200" b="1">
                <a:solidFill>
                  <a:srgbClr val="14213D"/>
                </a:solidFill>
                <a:latin typeface="Georgia"/>
              </a:rPr>
              <a:t>30.622.564</a:t>
            </a:r>
          </a:p>
        </p:txBody>
      </p:sp>
      <p:sp>
        <p:nvSpPr>
          <p:cNvPr id="8" name="TextBox 7"/>
          <p:cNvSpPr txBox="1"/>
          <p:nvPr/>
        </p:nvSpPr>
        <p:spPr>
          <a:xfrm>
            <a:off x="1066800" y="3543300"/>
            <a:ext cx="4673600" cy="254000"/>
          </a:xfrm>
          <a:prstGeom prst="rect">
            <a:avLst/>
          </a:prstGeom>
          <a:noFill/>
        </p:spPr>
        <p:txBody>
          <a:bodyPr wrap="square" lIns="0" rIns="0" tIns="0" bIns="0">
            <a:spAutoFit/>
          </a:bodyPr>
          <a:lstStyle/>
          <a:p>
            <a:pPr>
              <a:lnSpc>
                <a:spcPct val="110000"/>
              </a:lnSpc>
              <a:spcAft>
                <a:spcPts val="0"/>
              </a:spcAft>
            </a:pPr>
            <a:r>
              <a:rPr sz="1400" b="0">
                <a:solidFill>
                  <a:srgbClr val="4A5568"/>
                </a:solidFill>
                <a:latin typeface="Calibri"/>
              </a:rPr>
              <a:t>relasi berarah</a:t>
            </a:r>
          </a:p>
        </p:txBody>
      </p:sp>
      <p:sp>
        <p:nvSpPr>
          <p:cNvPr id="9" name="Rounded Rectangle 8"/>
          <p:cNvSpPr/>
          <p:nvPr/>
        </p:nvSpPr>
        <p:spPr>
          <a:xfrm>
            <a:off x="6197600" y="1587500"/>
            <a:ext cx="5181600" cy="2413000"/>
          </a:xfrm>
          <a:prstGeom prst="roundRect">
            <a:avLst>
              <a:gd name="adj" fmla="val 3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1600" y="1778000"/>
            <a:ext cx="4673600" cy="254000"/>
          </a:xfrm>
          <a:prstGeom prst="rect">
            <a:avLst/>
          </a:prstGeom>
          <a:noFill/>
        </p:spPr>
        <p:txBody>
          <a:bodyPr wrap="square" lIns="0" rIns="0" tIns="0" bIns="0">
            <a:spAutoFit/>
          </a:bodyPr>
          <a:lstStyle/>
          <a:p>
            <a:pPr>
              <a:lnSpc>
                <a:spcPct val="110000"/>
              </a:lnSpc>
              <a:spcAft>
                <a:spcPts val="0"/>
              </a:spcAft>
            </a:pPr>
            <a:r>
              <a:rPr sz="1400" b="0">
                <a:solidFill>
                  <a:srgbClr val="C9D3E6"/>
                </a:solidFill>
                <a:latin typeface="Calibri"/>
              </a:rPr>
              <a:t>Sampel: satu wilayah</a:t>
            </a:r>
          </a:p>
        </p:txBody>
      </p:sp>
      <p:sp>
        <p:nvSpPr>
          <p:cNvPr id="11" name="TextBox 10"/>
          <p:cNvSpPr txBox="1"/>
          <p:nvPr/>
        </p:nvSpPr>
        <p:spPr>
          <a:xfrm>
            <a:off x="6451600" y="2044700"/>
            <a:ext cx="4673600" cy="571500"/>
          </a:xfrm>
          <a:prstGeom prst="rect">
            <a:avLst/>
          </a:prstGeom>
          <a:noFill/>
        </p:spPr>
        <p:txBody>
          <a:bodyPr wrap="square" lIns="0" rIns="0" tIns="0" bIns="0">
            <a:spAutoFit/>
          </a:bodyPr>
          <a:lstStyle/>
          <a:p>
            <a:pPr>
              <a:lnSpc>
                <a:spcPct val="110000"/>
              </a:lnSpc>
              <a:spcAft>
                <a:spcPts val="0"/>
              </a:spcAft>
            </a:pPr>
            <a:r>
              <a:rPr sz="3200" b="1">
                <a:solidFill>
                  <a:srgbClr val="F7F5EF"/>
                </a:solidFill>
                <a:latin typeface="Georgia"/>
              </a:rPr>
              <a:t>4.505</a:t>
            </a:r>
          </a:p>
        </p:txBody>
      </p:sp>
      <p:sp>
        <p:nvSpPr>
          <p:cNvPr id="12" name="TextBox 11"/>
          <p:cNvSpPr txBox="1"/>
          <p:nvPr/>
        </p:nvSpPr>
        <p:spPr>
          <a:xfrm>
            <a:off x="6451600" y="2654300"/>
            <a:ext cx="4673600" cy="254000"/>
          </a:xfrm>
          <a:prstGeom prst="rect">
            <a:avLst/>
          </a:prstGeom>
          <a:noFill/>
        </p:spPr>
        <p:txBody>
          <a:bodyPr wrap="square" lIns="0" rIns="0" tIns="0" bIns="0">
            <a:spAutoFit/>
          </a:bodyPr>
          <a:lstStyle/>
          <a:p>
            <a:pPr>
              <a:lnSpc>
                <a:spcPct val="110000"/>
              </a:lnSpc>
              <a:spcAft>
                <a:spcPts val="0"/>
              </a:spcAft>
            </a:pPr>
            <a:r>
              <a:rPr sz="1400" b="0">
                <a:solidFill>
                  <a:srgbClr val="C9D3E6"/>
                </a:solidFill>
                <a:latin typeface="Calibri"/>
              </a:rPr>
              <a:t>pengguna (0,28%)</a:t>
            </a:r>
          </a:p>
        </p:txBody>
      </p:sp>
      <p:sp>
        <p:nvSpPr>
          <p:cNvPr id="13" name="TextBox 12"/>
          <p:cNvSpPr txBox="1"/>
          <p:nvPr/>
        </p:nvSpPr>
        <p:spPr>
          <a:xfrm>
            <a:off x="6451600" y="2933700"/>
            <a:ext cx="4673600" cy="571500"/>
          </a:xfrm>
          <a:prstGeom prst="rect">
            <a:avLst/>
          </a:prstGeom>
          <a:noFill/>
        </p:spPr>
        <p:txBody>
          <a:bodyPr wrap="square" lIns="0" rIns="0" tIns="0" bIns="0">
            <a:spAutoFit/>
          </a:bodyPr>
          <a:lstStyle/>
          <a:p>
            <a:pPr>
              <a:lnSpc>
                <a:spcPct val="110000"/>
              </a:lnSpc>
              <a:spcAft>
                <a:spcPts val="0"/>
              </a:spcAft>
            </a:pPr>
            <a:r>
              <a:rPr sz="3200" b="1">
                <a:solidFill>
                  <a:srgbClr val="F7F5EF"/>
                </a:solidFill>
                <a:latin typeface="Georgia"/>
              </a:rPr>
              <a:t>72.004</a:t>
            </a:r>
          </a:p>
        </p:txBody>
      </p:sp>
      <p:sp>
        <p:nvSpPr>
          <p:cNvPr id="14" name="TextBox 13"/>
          <p:cNvSpPr txBox="1"/>
          <p:nvPr/>
        </p:nvSpPr>
        <p:spPr>
          <a:xfrm>
            <a:off x="6451600" y="3543300"/>
            <a:ext cx="4673600" cy="254000"/>
          </a:xfrm>
          <a:prstGeom prst="rect">
            <a:avLst/>
          </a:prstGeom>
          <a:noFill/>
        </p:spPr>
        <p:txBody>
          <a:bodyPr wrap="square" lIns="0" rIns="0" tIns="0" bIns="0">
            <a:spAutoFit/>
          </a:bodyPr>
          <a:lstStyle/>
          <a:p>
            <a:pPr>
              <a:lnSpc>
                <a:spcPct val="110000"/>
              </a:lnSpc>
              <a:spcAft>
                <a:spcPts val="0"/>
              </a:spcAft>
            </a:pPr>
            <a:r>
              <a:rPr sz="1400" b="0">
                <a:solidFill>
                  <a:srgbClr val="C9D3E6"/>
                </a:solidFill>
                <a:latin typeface="Calibri"/>
              </a:rPr>
              <a:t>relasi berarah (0,24%)</a:t>
            </a:r>
          </a:p>
        </p:txBody>
      </p:sp>
      <p:sp>
        <p:nvSpPr>
          <p:cNvPr id="15" name="Rounded Rectangle 14"/>
          <p:cNvSpPr/>
          <p:nvPr/>
        </p:nvSpPr>
        <p:spPr>
          <a:xfrm>
            <a:off x="812800" y="4254500"/>
            <a:ext cx="2527300" cy="1587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0600" y="4445000"/>
            <a:ext cx="2171700" cy="4445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71,1%</a:t>
            </a:r>
          </a:p>
        </p:txBody>
      </p:sp>
      <p:sp>
        <p:nvSpPr>
          <p:cNvPr id="17" name="TextBox 16"/>
          <p:cNvSpPr txBox="1"/>
          <p:nvPr/>
        </p:nvSpPr>
        <p:spPr>
          <a:xfrm>
            <a:off x="990600" y="5016500"/>
            <a:ext cx="2171700" cy="698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relasi berbalas</a:t>
            </a:r>
          </a:p>
        </p:txBody>
      </p:sp>
      <p:sp>
        <p:nvSpPr>
          <p:cNvPr id="18" name="Rounded Rectangle 17"/>
          <p:cNvSpPr/>
          <p:nvPr/>
        </p:nvSpPr>
        <p:spPr>
          <a:xfrm>
            <a:off x="3492500" y="4254500"/>
            <a:ext cx="2527300" cy="1587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0300" y="4445000"/>
            <a:ext cx="2171700" cy="4445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10 / 185</a:t>
            </a:r>
          </a:p>
        </p:txBody>
      </p:sp>
      <p:sp>
        <p:nvSpPr>
          <p:cNvPr id="20" name="TextBox 19"/>
          <p:cNvSpPr txBox="1"/>
          <p:nvPr/>
        </p:nvSpPr>
        <p:spPr>
          <a:xfrm>
            <a:off x="3670300" y="5016500"/>
            <a:ext cx="2171700" cy="698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median / maksimum teman keluar</a:t>
            </a:r>
          </a:p>
        </p:txBody>
      </p:sp>
      <p:sp>
        <p:nvSpPr>
          <p:cNvPr id="21" name="Rounded Rectangle 20"/>
          <p:cNvSpPr/>
          <p:nvPr/>
        </p:nvSpPr>
        <p:spPr>
          <a:xfrm>
            <a:off x="6172200" y="4254500"/>
            <a:ext cx="2527300" cy="1587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0000" y="4445000"/>
            <a:ext cx="2171700" cy="4445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11,1%</a:t>
            </a:r>
          </a:p>
        </p:txBody>
      </p:sp>
      <p:sp>
        <p:nvSpPr>
          <p:cNvPr id="23" name="TextBox 22"/>
          <p:cNvSpPr txBox="1"/>
          <p:nvPr/>
        </p:nvSpPr>
        <p:spPr>
          <a:xfrm>
            <a:off x="6350000" y="5016500"/>
            <a:ext cx="2171700" cy="698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tanpa relasi di sampel</a:t>
            </a:r>
          </a:p>
        </p:txBody>
      </p:sp>
      <p:sp>
        <p:nvSpPr>
          <p:cNvPr id="24" name="Rounded Rectangle 23"/>
          <p:cNvSpPr/>
          <p:nvPr/>
        </p:nvSpPr>
        <p:spPr>
          <a:xfrm>
            <a:off x="8851900" y="4254500"/>
            <a:ext cx="2527300" cy="1587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29700" y="4445000"/>
            <a:ext cx="2171700" cy="4445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0,188</a:t>
            </a:r>
          </a:p>
        </p:txBody>
      </p:sp>
      <p:sp>
        <p:nvSpPr>
          <p:cNvPr id="26" name="TextBox 25"/>
          <p:cNvSpPr txBox="1"/>
          <p:nvPr/>
        </p:nvSpPr>
        <p:spPr>
          <a:xfrm>
            <a:off x="9029700" y="5016500"/>
            <a:ext cx="2171700" cy="698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klasterisasi (seluruh Pokec: 0,109)</a:t>
            </a:r>
          </a:p>
        </p:txBody>
      </p:sp>
      <p:sp>
        <p:nvSpPr>
          <p:cNvPr id="27" name="TextBox 26"/>
          <p:cNvSpPr txBox="1"/>
          <p:nvPr/>
        </p:nvSpPr>
        <p:spPr>
          <a:xfrm>
            <a:off x="812800" y="6350000"/>
            <a:ext cx="10566400" cy="190500"/>
          </a:xfrm>
          <a:prstGeom prst="rect">
            <a:avLst/>
          </a:prstGeom>
          <a:noFill/>
        </p:spPr>
        <p:txBody>
          <a:bodyPr wrap="square" lIns="0" rIns="0" tIns="0" bIns="0">
            <a:spAutoFit/>
          </a:bodyPr>
          <a:lstStyle/>
          <a:p>
            <a:pPr>
              <a:lnSpc>
                <a:spcPct val="110000"/>
              </a:lnSpc>
              <a:spcAft>
                <a:spcPts val="0"/>
              </a:spcAft>
            </a:pPr>
            <a:r>
              <a:rPr sz="1200" b="0">
                <a:solidFill>
                  <a:srgbClr val="5B6472"/>
                </a:solidFill>
                <a:latin typeface="Calibri"/>
              </a:rPr>
              <a:t>Sumber: SNAP (Takac dan Zabovsky, 2012); statistik sampel dihitung dari CSV hasil subsampling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Arsitektur: tiga komponen, satu sumber data</a:t>
            </a:r>
          </a:p>
        </p:txBody>
      </p:sp>
      <p:sp>
        <p:nvSpPr>
          <p:cNvPr id="3" name="Rounded Rectangle 2"/>
          <p:cNvSpPr/>
          <p:nvPr/>
        </p:nvSpPr>
        <p:spPr>
          <a:xfrm>
            <a:off x="812800" y="1587500"/>
            <a:ext cx="3386666" cy="2984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800" y="1587500"/>
            <a:ext cx="3386666" cy="508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400" y="1841500"/>
            <a:ext cx="2929466" cy="3810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SQLite</a:t>
            </a:r>
          </a:p>
        </p:txBody>
      </p:sp>
      <p:sp>
        <p:nvSpPr>
          <p:cNvPr id="6" name="TextBox 5"/>
          <p:cNvSpPr txBox="1"/>
          <p:nvPr/>
        </p:nvSpPr>
        <p:spPr>
          <a:xfrm>
            <a:off x="1041400" y="2286000"/>
            <a:ext cx="2929466" cy="254000"/>
          </a:xfrm>
          <a:prstGeom prst="rect">
            <a:avLst/>
          </a:prstGeom>
          <a:noFill/>
        </p:spPr>
        <p:txBody>
          <a:bodyPr wrap="square" lIns="0" rIns="0" tIns="0" bIns="0">
            <a:spAutoFit/>
          </a:bodyPr>
          <a:lstStyle/>
          <a:p>
            <a:pPr>
              <a:lnSpc>
                <a:spcPct val="110000"/>
              </a:lnSpc>
              <a:spcAft>
                <a:spcPts val="0"/>
              </a:spcAft>
            </a:pPr>
            <a:r>
              <a:rPr sz="1400" b="1">
                <a:solidFill>
                  <a:srgbClr val="14213D"/>
                </a:solidFill>
                <a:latin typeface="Calibri"/>
              </a:rPr>
              <a:t>Siapa pengguna itu</a:t>
            </a:r>
          </a:p>
        </p:txBody>
      </p:sp>
      <p:sp>
        <p:nvSpPr>
          <p:cNvPr id="7" name="TextBox 6"/>
          <p:cNvSpPr txBox="1"/>
          <p:nvPr/>
        </p:nvSpPr>
        <p:spPr>
          <a:xfrm>
            <a:off x="1041400" y="2667000"/>
            <a:ext cx="2929466" cy="1778000"/>
          </a:xfrm>
          <a:prstGeom prst="rect">
            <a:avLst/>
          </a:prstGeom>
          <a:noFill/>
        </p:spPr>
        <p:txBody>
          <a:bodyPr wrap="square" lIns="0" rIns="0" tIns="0" bIns="0">
            <a:spAutoFit/>
          </a:bodyPr>
          <a:lstStyle/>
          <a:p>
            <a:pPr marL="254000" indent="-254000">
              <a:lnSpc>
                <a:spcPct val="115000"/>
              </a:lnSpc>
              <a:spcAft>
                <a:spcPts val="600"/>
              </a:spcAft>
              <a:buChar char="•"/>
            </a:pPr>
            <a:r>
              <a:rPr sz="1400" b="0">
                <a:solidFill>
                  <a:srgbClr val="14213D"/>
                </a:solidFill>
                <a:latin typeface="Calibri"/>
              </a:rPr>
              <a:t>users: 18 kolom atribut</a:t>
            </a:r>
          </a:p>
          <a:p>
            <a:pPr marL="254000" indent="-254000">
              <a:lnSpc>
                <a:spcPct val="115000"/>
              </a:lnSpc>
              <a:spcAft>
                <a:spcPts val="600"/>
              </a:spcAft>
              <a:buChar char="•"/>
            </a:pPr>
            <a:r>
              <a:rPr sz="1400" b="0">
                <a:solidFill>
                  <a:srgbClr val="14213D"/>
                </a:solidFill>
                <a:latin typeface="Calibri"/>
              </a:rPr>
              <a:t>hobbies: pengguna dan hobi</a:t>
            </a:r>
          </a:p>
          <a:p>
            <a:pPr marL="254000" indent="-254000">
              <a:lnSpc>
                <a:spcPct val="115000"/>
              </a:lnSpc>
              <a:spcAft>
                <a:spcPts val="600"/>
              </a:spcAft>
              <a:buChar char="•"/>
            </a:pPr>
            <a:r>
              <a:rPr sz="1400" b="0">
                <a:solidFill>
                  <a:srgbClr val="14213D"/>
                </a:solidFill>
                <a:latin typeface="Calibri"/>
              </a:rPr>
              <a:t>friendships: salinan relasi, hanya untuk perbandingan</a:t>
            </a:r>
          </a:p>
        </p:txBody>
      </p:sp>
      <p:sp>
        <p:nvSpPr>
          <p:cNvPr id="8" name="Rounded Rectangle 7"/>
          <p:cNvSpPr/>
          <p:nvPr/>
        </p:nvSpPr>
        <p:spPr>
          <a:xfrm>
            <a:off x="4402666" y="1587500"/>
            <a:ext cx="3386666" cy="2984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2666" y="1587500"/>
            <a:ext cx="3386666" cy="508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1266" y="1841500"/>
            <a:ext cx="2929466" cy="381000"/>
          </a:xfrm>
          <a:prstGeom prst="rect">
            <a:avLst/>
          </a:prstGeom>
          <a:noFill/>
        </p:spPr>
        <p:txBody>
          <a:bodyPr wrap="square" lIns="0" rIns="0" tIns="0" bIns="0">
            <a:spAutoFit/>
          </a:bodyPr>
          <a:lstStyle/>
          <a:p>
            <a:pPr>
              <a:lnSpc>
                <a:spcPct val="110000"/>
              </a:lnSpc>
              <a:spcAft>
                <a:spcPts val="0"/>
              </a:spcAft>
            </a:pPr>
            <a:r>
              <a:rPr sz="2200" b="1">
                <a:solidFill>
                  <a:srgbClr val="0E7A55"/>
                </a:solidFill>
                <a:latin typeface="Calibri"/>
              </a:rPr>
              <a:t>Python</a:t>
            </a:r>
          </a:p>
        </p:txBody>
      </p:sp>
      <p:sp>
        <p:nvSpPr>
          <p:cNvPr id="11" name="TextBox 10"/>
          <p:cNvSpPr txBox="1"/>
          <p:nvPr/>
        </p:nvSpPr>
        <p:spPr>
          <a:xfrm>
            <a:off x="4631266" y="2286000"/>
            <a:ext cx="2929466" cy="254000"/>
          </a:xfrm>
          <a:prstGeom prst="rect">
            <a:avLst/>
          </a:prstGeom>
          <a:noFill/>
        </p:spPr>
        <p:txBody>
          <a:bodyPr wrap="square" lIns="0" rIns="0" tIns="0" bIns="0">
            <a:spAutoFit/>
          </a:bodyPr>
          <a:lstStyle/>
          <a:p>
            <a:pPr>
              <a:lnSpc>
                <a:spcPct val="110000"/>
              </a:lnSpc>
              <a:spcAft>
                <a:spcPts val="0"/>
              </a:spcAft>
            </a:pPr>
            <a:r>
              <a:rPr sz="1400" b="1">
                <a:solidFill>
                  <a:srgbClr val="14213D"/>
                </a:solidFill>
                <a:latin typeface="Calibri"/>
              </a:rPr>
              <a:t>Penghubung</a:t>
            </a:r>
          </a:p>
        </p:txBody>
      </p:sp>
      <p:sp>
        <p:nvSpPr>
          <p:cNvPr id="12" name="TextBox 11"/>
          <p:cNvSpPr txBox="1"/>
          <p:nvPr/>
        </p:nvSpPr>
        <p:spPr>
          <a:xfrm>
            <a:off x="4631266" y="2667000"/>
            <a:ext cx="2929466" cy="1778000"/>
          </a:xfrm>
          <a:prstGeom prst="rect">
            <a:avLst/>
          </a:prstGeom>
          <a:noFill/>
        </p:spPr>
        <p:txBody>
          <a:bodyPr wrap="square" lIns="0" rIns="0" tIns="0" bIns="0">
            <a:spAutoFit/>
          </a:bodyPr>
          <a:lstStyle/>
          <a:p>
            <a:pPr marL="254000" indent="-254000">
              <a:lnSpc>
                <a:spcPct val="115000"/>
              </a:lnSpc>
              <a:spcAft>
                <a:spcPts val="600"/>
              </a:spcAft>
              <a:buChar char="•"/>
            </a:pPr>
            <a:r>
              <a:rPr sz="1400" b="0">
                <a:solidFill>
                  <a:srgbClr val="14213D"/>
                </a:solidFill>
                <a:latin typeface="Calibri"/>
              </a:rPr>
              <a:t>5 fungsi hibrida</a:t>
            </a:r>
          </a:p>
          <a:p>
            <a:pPr marL="254000" indent="-254000">
              <a:lnSpc>
                <a:spcPct val="115000"/>
              </a:lnSpc>
              <a:spcAft>
                <a:spcPts val="600"/>
              </a:spcAft>
              <a:buChar char="•"/>
            </a:pPr>
            <a:r>
              <a:rPr sz="1400" b="0">
                <a:solidFill>
                  <a:srgbClr val="14213D"/>
                </a:solidFill>
                <a:latin typeface="Calibri"/>
              </a:rPr>
              <a:t>menggabungkan id dari Neo4j dengan profil SQLite</a:t>
            </a:r>
          </a:p>
          <a:p>
            <a:pPr marL="254000" indent="-254000">
              <a:lnSpc>
                <a:spcPct val="115000"/>
              </a:lnSpc>
              <a:spcAft>
                <a:spcPts val="600"/>
              </a:spcAft>
              <a:buChar char="•"/>
            </a:pPr>
            <a:r>
              <a:rPr sz="1400" b="0">
                <a:solidFill>
                  <a:srgbClr val="14213D"/>
                </a:solidFill>
                <a:latin typeface="Calibri"/>
              </a:rPr>
              <a:t>sinkronisasi dan pemeriksaan konsistensi</a:t>
            </a:r>
          </a:p>
        </p:txBody>
      </p:sp>
      <p:sp>
        <p:nvSpPr>
          <p:cNvPr id="13" name="Rounded Rectangle 12"/>
          <p:cNvSpPr/>
          <p:nvPr/>
        </p:nvSpPr>
        <p:spPr>
          <a:xfrm>
            <a:off x="7992533" y="1587500"/>
            <a:ext cx="3386666" cy="2984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92533" y="1587500"/>
            <a:ext cx="3386666" cy="508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1133" y="1841500"/>
            <a:ext cx="2929466" cy="381000"/>
          </a:xfrm>
          <a:prstGeom prst="rect">
            <a:avLst/>
          </a:prstGeom>
          <a:noFill/>
        </p:spPr>
        <p:txBody>
          <a:bodyPr wrap="square" lIns="0" rIns="0" tIns="0" bIns="0">
            <a:spAutoFit/>
          </a:bodyPr>
          <a:lstStyle/>
          <a:p>
            <a:pPr>
              <a:lnSpc>
                <a:spcPct val="110000"/>
              </a:lnSpc>
              <a:spcAft>
                <a:spcPts val="0"/>
              </a:spcAft>
            </a:pPr>
            <a:r>
              <a:rPr sz="2200" b="1">
                <a:solidFill>
                  <a:srgbClr val="B8431A"/>
                </a:solidFill>
                <a:latin typeface="Calibri"/>
              </a:rPr>
              <a:t>Neo4j</a:t>
            </a:r>
          </a:p>
        </p:txBody>
      </p:sp>
      <p:sp>
        <p:nvSpPr>
          <p:cNvPr id="16" name="TextBox 15"/>
          <p:cNvSpPr txBox="1"/>
          <p:nvPr/>
        </p:nvSpPr>
        <p:spPr>
          <a:xfrm>
            <a:off x="8221133" y="2286000"/>
            <a:ext cx="2929466" cy="254000"/>
          </a:xfrm>
          <a:prstGeom prst="rect">
            <a:avLst/>
          </a:prstGeom>
          <a:noFill/>
        </p:spPr>
        <p:txBody>
          <a:bodyPr wrap="square" lIns="0" rIns="0" tIns="0" bIns="0">
            <a:spAutoFit/>
          </a:bodyPr>
          <a:lstStyle/>
          <a:p>
            <a:pPr>
              <a:lnSpc>
                <a:spcPct val="110000"/>
              </a:lnSpc>
              <a:spcAft>
                <a:spcPts val="0"/>
              </a:spcAft>
            </a:pPr>
            <a:r>
              <a:rPr sz="1400" b="1">
                <a:solidFill>
                  <a:srgbClr val="14213D"/>
                </a:solidFill>
                <a:latin typeface="Calibri"/>
              </a:rPr>
              <a:t>Siapa terhubung dengan siapa</a:t>
            </a:r>
          </a:p>
        </p:txBody>
      </p:sp>
      <p:sp>
        <p:nvSpPr>
          <p:cNvPr id="17" name="TextBox 16"/>
          <p:cNvSpPr txBox="1"/>
          <p:nvPr/>
        </p:nvSpPr>
        <p:spPr>
          <a:xfrm>
            <a:off x="8221133" y="2667000"/>
            <a:ext cx="2929466" cy="1778000"/>
          </a:xfrm>
          <a:prstGeom prst="rect">
            <a:avLst/>
          </a:prstGeom>
          <a:noFill/>
        </p:spPr>
        <p:txBody>
          <a:bodyPr wrap="square" lIns="0" rIns="0" tIns="0" bIns="0">
            <a:spAutoFit/>
          </a:bodyPr>
          <a:lstStyle/>
          <a:p>
            <a:pPr marL="254000" indent="-254000">
              <a:lnSpc>
                <a:spcPct val="115000"/>
              </a:lnSpc>
              <a:spcAft>
                <a:spcPts val="600"/>
              </a:spcAft>
              <a:buChar char="•"/>
            </a:pPr>
            <a:r>
              <a:rPr sz="1400" b="0">
                <a:solidFill>
                  <a:srgbClr val="14213D"/>
                </a:solidFill>
                <a:latin typeface="Calibri"/>
              </a:rPr>
              <a:t>relasi FRIEND antar pengguna (berarah)</a:t>
            </a:r>
          </a:p>
          <a:p>
            <a:pPr marL="254000" indent="-254000">
              <a:lnSpc>
                <a:spcPct val="115000"/>
              </a:lnSpc>
              <a:spcAft>
                <a:spcPts val="600"/>
              </a:spcAft>
              <a:buChar char="•"/>
            </a:pPr>
            <a:r>
              <a:rPr sz="1400" b="0">
                <a:solidFill>
                  <a:srgbClr val="14213D"/>
                </a:solidFill>
                <a:latin typeface="Calibri"/>
              </a:rPr>
              <a:t>relasi HAS_HOBBY ke node Hobby</a:t>
            </a:r>
          </a:p>
          <a:p>
            <a:pPr marL="254000" indent="-254000">
              <a:lnSpc>
                <a:spcPct val="115000"/>
              </a:lnSpc>
              <a:spcAft>
                <a:spcPts val="600"/>
              </a:spcAft>
              <a:buChar char="•"/>
            </a:pPr>
            <a:r>
              <a:rPr sz="1400" b="0">
                <a:solidFill>
                  <a:srgbClr val="14213D"/>
                </a:solidFill>
                <a:latin typeface="Calibri"/>
              </a:rPr>
              <a:t>constraint unik pada user_id</a:t>
            </a:r>
          </a:p>
        </p:txBody>
      </p:sp>
      <p:sp>
        <p:nvSpPr>
          <p:cNvPr id="18" name="Rounded Rectangle 17"/>
          <p:cNvSpPr/>
          <p:nvPr/>
        </p:nvSpPr>
        <p:spPr>
          <a:xfrm>
            <a:off x="812800" y="4889500"/>
            <a:ext cx="10566400" cy="952500"/>
          </a:xfrm>
          <a:prstGeom prst="roundRect">
            <a:avLst>
              <a:gd name="adj" fmla="val 3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6800" y="5080000"/>
            <a:ext cx="10058400" cy="254000"/>
          </a:xfrm>
          <a:prstGeom prst="rect">
            <a:avLst/>
          </a:prstGeom>
          <a:noFill/>
        </p:spPr>
        <p:txBody>
          <a:bodyPr wrap="square" lIns="0" rIns="0" tIns="0" bIns="0">
            <a:spAutoFit/>
          </a:bodyPr>
          <a:lstStyle/>
          <a:p>
            <a:pPr>
              <a:lnSpc>
                <a:spcPct val="110000"/>
              </a:lnSpc>
              <a:spcAft>
                <a:spcPts val="0"/>
              </a:spcAft>
            </a:pPr>
            <a:r>
              <a:rPr sz="1400" b="1">
                <a:solidFill>
                  <a:srgbClr val="F7F5EF"/>
                </a:solidFill>
                <a:latin typeface="Calibri"/>
              </a:rPr>
              <a:t>Sumber kebenaran: users_sample.csv dan edges_sample.csv</a:t>
            </a:r>
          </a:p>
        </p:txBody>
      </p:sp>
      <p:sp>
        <p:nvSpPr>
          <p:cNvPr id="20" name="TextBox 19"/>
          <p:cNvSpPr txBox="1"/>
          <p:nvPr/>
        </p:nvSpPr>
        <p:spPr>
          <a:xfrm>
            <a:off x="1066800" y="5397500"/>
            <a:ext cx="10058400" cy="254000"/>
          </a:xfrm>
          <a:prstGeom prst="rect">
            <a:avLst/>
          </a:prstGeom>
          <a:noFill/>
        </p:spPr>
        <p:txBody>
          <a:bodyPr wrap="square" lIns="0" rIns="0" tIns="0" bIns="0">
            <a:spAutoFit/>
          </a:bodyPr>
          <a:lstStyle/>
          <a:p>
            <a:pPr>
              <a:lnSpc>
                <a:spcPct val="110000"/>
              </a:lnSpc>
              <a:spcAft>
                <a:spcPts val="0"/>
              </a:spcAft>
            </a:pPr>
            <a:r>
              <a:rPr sz="1400" b="0">
                <a:solidFill>
                  <a:srgbClr val="C9D3E6"/>
                </a:solidFill>
                <a:latin typeface="Calibri"/>
              </a:rPr>
              <a:t>Duplikasi disengaja: gender, age, region juga disalin ke node Neo4j.</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Pola hibrida: struktur dari graf, profil dari tabel</a:t>
            </a:r>
          </a:p>
        </p:txBody>
      </p:sp>
      <p:sp>
        <p:nvSpPr>
          <p:cNvPr id="3" name="Rounded Rectangle 2"/>
          <p:cNvSpPr/>
          <p:nvPr/>
        </p:nvSpPr>
        <p:spPr>
          <a:xfrm>
            <a:off x="812800" y="1587500"/>
            <a:ext cx="2508250" cy="2730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16000" y="179070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790700"/>
            <a:ext cx="457200" cy="457200"/>
          </a:xfrm>
          <a:prstGeom prst="rect">
            <a:avLst/>
          </a:prstGeom>
          <a:noFill/>
        </p:spPr>
        <p:txBody>
          <a:bodyPr wrap="square" lIns="0" rIns="0" tIns="0" bIns="0" anchor="ctr">
            <a:spAutoFit/>
          </a:bodyPr>
          <a:lstStyle/>
          <a:p>
            <a:pPr algn="ctr">
              <a:lnSpc>
                <a:spcPct val="110000"/>
              </a:lnSpc>
              <a:spcAft>
                <a:spcPts val="0"/>
              </a:spcAft>
            </a:pPr>
            <a:r>
              <a:rPr sz="1600" b="1">
                <a:solidFill>
                  <a:srgbClr val="14213D"/>
                </a:solidFill>
                <a:latin typeface="Calibri"/>
              </a:rPr>
              <a:t>1</a:t>
            </a:r>
          </a:p>
        </p:txBody>
      </p:sp>
      <p:sp>
        <p:nvSpPr>
          <p:cNvPr id="6" name="TextBox 5"/>
          <p:cNvSpPr txBox="1"/>
          <p:nvPr/>
        </p:nvSpPr>
        <p:spPr>
          <a:xfrm>
            <a:off x="1016000" y="2444750"/>
            <a:ext cx="2101850" cy="381000"/>
          </a:xfrm>
          <a:prstGeom prst="rect">
            <a:avLst/>
          </a:prstGeom>
          <a:noFill/>
        </p:spPr>
        <p:txBody>
          <a:bodyPr wrap="square" lIns="0" rIns="0" tIns="0" bIns="0">
            <a:spAutoFit/>
          </a:bodyPr>
          <a:lstStyle/>
          <a:p>
            <a:pPr>
              <a:lnSpc>
                <a:spcPct val="110000"/>
              </a:lnSpc>
              <a:spcAft>
                <a:spcPts val="0"/>
              </a:spcAft>
            </a:pPr>
            <a:r>
              <a:rPr sz="2200" b="1">
                <a:solidFill>
                  <a:srgbClr val="B8431A"/>
                </a:solidFill>
                <a:latin typeface="Calibri"/>
              </a:rPr>
              <a:t>Neo4j</a:t>
            </a:r>
          </a:p>
        </p:txBody>
      </p:sp>
      <p:sp>
        <p:nvSpPr>
          <p:cNvPr id="7" name="TextBox 6"/>
          <p:cNvSpPr txBox="1"/>
          <p:nvPr/>
        </p:nvSpPr>
        <p:spPr>
          <a:xfrm>
            <a:off x="1016000" y="2952750"/>
            <a:ext cx="2101850" cy="1206500"/>
          </a:xfrm>
          <a:prstGeom prst="rect">
            <a:avLst/>
          </a:prstGeom>
          <a:noFill/>
        </p:spPr>
        <p:txBody>
          <a:bodyPr wrap="square" lIns="0" rIns="0" tIns="0" bIns="0">
            <a:spAutoFit/>
          </a:bodyPr>
          <a:lstStyle/>
          <a:p>
            <a:pPr>
              <a:lnSpc>
                <a:spcPct val="115000"/>
              </a:lnSpc>
              <a:spcAft>
                <a:spcPts val="0"/>
              </a:spcAft>
            </a:pPr>
            <a:r>
              <a:rPr sz="1400" b="0">
                <a:solidFill>
                  <a:srgbClr val="14213D"/>
                </a:solidFill>
                <a:latin typeface="Calibri"/>
              </a:rPr>
              <a:t>mencari struktur: id pengguna dan angka seperti teman bersama</a:t>
            </a:r>
          </a:p>
        </p:txBody>
      </p:sp>
      <p:sp>
        <p:nvSpPr>
          <p:cNvPr id="8" name="Rounded Rectangle 7"/>
          <p:cNvSpPr/>
          <p:nvPr/>
        </p:nvSpPr>
        <p:spPr>
          <a:xfrm>
            <a:off x="3498850" y="1587500"/>
            <a:ext cx="2508250" cy="2730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02050" y="179070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2050" y="1790700"/>
            <a:ext cx="457200" cy="457200"/>
          </a:xfrm>
          <a:prstGeom prst="rect">
            <a:avLst/>
          </a:prstGeom>
          <a:noFill/>
        </p:spPr>
        <p:txBody>
          <a:bodyPr wrap="square" lIns="0" rIns="0" tIns="0" bIns="0" anchor="ctr">
            <a:spAutoFit/>
          </a:bodyPr>
          <a:lstStyle/>
          <a:p>
            <a:pPr algn="ctr">
              <a:lnSpc>
                <a:spcPct val="110000"/>
              </a:lnSpc>
              <a:spcAft>
                <a:spcPts val="0"/>
              </a:spcAft>
            </a:pPr>
            <a:r>
              <a:rPr sz="1600" b="1">
                <a:solidFill>
                  <a:srgbClr val="FFFFFF"/>
                </a:solidFill>
                <a:latin typeface="Calibri"/>
              </a:rPr>
              <a:t>2</a:t>
            </a:r>
          </a:p>
        </p:txBody>
      </p:sp>
      <p:sp>
        <p:nvSpPr>
          <p:cNvPr id="11" name="TextBox 10"/>
          <p:cNvSpPr txBox="1"/>
          <p:nvPr/>
        </p:nvSpPr>
        <p:spPr>
          <a:xfrm>
            <a:off x="3702050" y="2444750"/>
            <a:ext cx="2101850" cy="3810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SQLite</a:t>
            </a:r>
          </a:p>
        </p:txBody>
      </p:sp>
      <p:sp>
        <p:nvSpPr>
          <p:cNvPr id="12" name="TextBox 11"/>
          <p:cNvSpPr txBox="1"/>
          <p:nvPr/>
        </p:nvSpPr>
        <p:spPr>
          <a:xfrm>
            <a:off x="3702050" y="2952750"/>
            <a:ext cx="2101850" cy="1206500"/>
          </a:xfrm>
          <a:prstGeom prst="rect">
            <a:avLst/>
          </a:prstGeom>
          <a:noFill/>
        </p:spPr>
        <p:txBody>
          <a:bodyPr wrap="square" lIns="0" rIns="0" tIns="0" bIns="0">
            <a:spAutoFit/>
          </a:bodyPr>
          <a:lstStyle/>
          <a:p>
            <a:pPr>
              <a:lnSpc>
                <a:spcPct val="115000"/>
              </a:lnSpc>
              <a:spcAft>
                <a:spcPts val="0"/>
              </a:spcAft>
            </a:pPr>
            <a:r>
              <a:rPr sz="1400" b="0">
                <a:solidFill>
                  <a:srgbClr val="14213D"/>
                </a:solidFill>
                <a:latin typeface="Calibri"/>
              </a:rPr>
              <a:t>mengambil profil dengan IN (...) per 500 id</a:t>
            </a:r>
          </a:p>
        </p:txBody>
      </p:sp>
      <p:sp>
        <p:nvSpPr>
          <p:cNvPr id="13" name="Rounded Rectangle 12"/>
          <p:cNvSpPr/>
          <p:nvPr/>
        </p:nvSpPr>
        <p:spPr>
          <a:xfrm>
            <a:off x="6184900" y="1587500"/>
            <a:ext cx="2508250" cy="2730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8100" y="1790700"/>
            <a:ext cx="457200" cy="45720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8100" y="1790700"/>
            <a:ext cx="457200" cy="457200"/>
          </a:xfrm>
          <a:prstGeom prst="rect">
            <a:avLst/>
          </a:prstGeom>
          <a:noFill/>
        </p:spPr>
        <p:txBody>
          <a:bodyPr wrap="square" lIns="0" rIns="0" tIns="0" bIns="0" anchor="ctr">
            <a:spAutoFit/>
          </a:bodyPr>
          <a:lstStyle/>
          <a:p>
            <a:pPr algn="ctr">
              <a:lnSpc>
                <a:spcPct val="110000"/>
              </a:lnSpc>
              <a:spcAft>
                <a:spcPts val="0"/>
              </a:spcAft>
            </a:pPr>
            <a:r>
              <a:rPr sz="1600" b="1">
                <a:solidFill>
                  <a:srgbClr val="14213D"/>
                </a:solidFill>
                <a:latin typeface="Calibri"/>
              </a:rPr>
              <a:t>3</a:t>
            </a:r>
          </a:p>
        </p:txBody>
      </p:sp>
      <p:sp>
        <p:nvSpPr>
          <p:cNvPr id="16" name="TextBox 15"/>
          <p:cNvSpPr txBox="1"/>
          <p:nvPr/>
        </p:nvSpPr>
        <p:spPr>
          <a:xfrm>
            <a:off x="6388100" y="2444750"/>
            <a:ext cx="2101850" cy="381000"/>
          </a:xfrm>
          <a:prstGeom prst="rect">
            <a:avLst/>
          </a:prstGeom>
          <a:noFill/>
        </p:spPr>
        <p:txBody>
          <a:bodyPr wrap="square" lIns="0" rIns="0" tIns="0" bIns="0">
            <a:spAutoFit/>
          </a:bodyPr>
          <a:lstStyle/>
          <a:p>
            <a:pPr>
              <a:lnSpc>
                <a:spcPct val="110000"/>
              </a:lnSpc>
              <a:spcAft>
                <a:spcPts val="0"/>
              </a:spcAft>
            </a:pPr>
            <a:r>
              <a:rPr sz="2200" b="1">
                <a:solidFill>
                  <a:srgbClr val="0E7A55"/>
                </a:solidFill>
                <a:latin typeface="Calibri"/>
              </a:rPr>
              <a:t>Python</a:t>
            </a:r>
          </a:p>
        </p:txBody>
      </p:sp>
      <p:sp>
        <p:nvSpPr>
          <p:cNvPr id="17" name="TextBox 16"/>
          <p:cNvSpPr txBox="1"/>
          <p:nvPr/>
        </p:nvSpPr>
        <p:spPr>
          <a:xfrm>
            <a:off x="6388100" y="2952750"/>
            <a:ext cx="2101850" cy="1206500"/>
          </a:xfrm>
          <a:prstGeom prst="rect">
            <a:avLst/>
          </a:prstGeom>
          <a:noFill/>
        </p:spPr>
        <p:txBody>
          <a:bodyPr wrap="square" lIns="0" rIns="0" tIns="0" bIns="0">
            <a:spAutoFit/>
          </a:bodyPr>
          <a:lstStyle/>
          <a:p>
            <a:pPr>
              <a:lnSpc>
                <a:spcPct val="115000"/>
              </a:lnSpc>
              <a:spcAft>
                <a:spcPts val="0"/>
              </a:spcAft>
            </a:pPr>
            <a:r>
              <a:rPr sz="1400" b="0">
                <a:solidFill>
                  <a:srgbClr val="14213D"/>
                </a:solidFill>
                <a:latin typeface="Calibri"/>
              </a:rPr>
              <a:t>menggabungkan; urutan dari Neo4j dipertahankan</a:t>
            </a:r>
          </a:p>
        </p:txBody>
      </p:sp>
      <p:sp>
        <p:nvSpPr>
          <p:cNvPr id="18" name="Rounded Rectangle 17"/>
          <p:cNvSpPr/>
          <p:nvPr/>
        </p:nvSpPr>
        <p:spPr>
          <a:xfrm>
            <a:off x="8870950" y="1587500"/>
            <a:ext cx="2508250" cy="27305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074150" y="179070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4150" y="1790700"/>
            <a:ext cx="457200" cy="457200"/>
          </a:xfrm>
          <a:prstGeom prst="rect">
            <a:avLst/>
          </a:prstGeom>
          <a:noFill/>
        </p:spPr>
        <p:txBody>
          <a:bodyPr wrap="square" lIns="0" rIns="0" tIns="0" bIns="0" anchor="ctr">
            <a:spAutoFit/>
          </a:bodyPr>
          <a:lstStyle/>
          <a:p>
            <a:pPr algn="ctr">
              <a:lnSpc>
                <a:spcPct val="110000"/>
              </a:lnSpc>
              <a:spcAft>
                <a:spcPts val="0"/>
              </a:spcAft>
            </a:pPr>
            <a:r>
              <a:rPr sz="1600" b="1">
                <a:solidFill>
                  <a:srgbClr val="F7F5EF"/>
                </a:solidFill>
                <a:latin typeface="Calibri"/>
              </a:rPr>
              <a:t>4</a:t>
            </a:r>
          </a:p>
        </p:txBody>
      </p:sp>
      <p:sp>
        <p:nvSpPr>
          <p:cNvPr id="21" name="TextBox 20"/>
          <p:cNvSpPr txBox="1"/>
          <p:nvPr/>
        </p:nvSpPr>
        <p:spPr>
          <a:xfrm>
            <a:off x="9074150" y="2444750"/>
            <a:ext cx="2101850" cy="381000"/>
          </a:xfrm>
          <a:prstGeom prst="rect">
            <a:avLst/>
          </a:prstGeom>
          <a:noFill/>
        </p:spPr>
        <p:txBody>
          <a:bodyPr wrap="square" lIns="0" rIns="0" tIns="0" bIns="0">
            <a:spAutoFit/>
          </a:bodyPr>
          <a:lstStyle/>
          <a:p>
            <a:pPr>
              <a:lnSpc>
                <a:spcPct val="110000"/>
              </a:lnSpc>
              <a:spcAft>
                <a:spcPts val="0"/>
              </a:spcAft>
            </a:pPr>
            <a:r>
              <a:rPr sz="2200" b="1">
                <a:solidFill>
                  <a:srgbClr val="14213D"/>
                </a:solidFill>
                <a:latin typeface="Calibri"/>
              </a:rPr>
              <a:t>Sinkron</a:t>
            </a:r>
          </a:p>
        </p:txBody>
      </p:sp>
      <p:sp>
        <p:nvSpPr>
          <p:cNvPr id="22" name="TextBox 21"/>
          <p:cNvSpPr txBox="1"/>
          <p:nvPr/>
        </p:nvSpPr>
        <p:spPr>
          <a:xfrm>
            <a:off x="9074150" y="2952750"/>
            <a:ext cx="2101850" cy="1206500"/>
          </a:xfrm>
          <a:prstGeom prst="rect">
            <a:avLst/>
          </a:prstGeom>
          <a:noFill/>
        </p:spPr>
        <p:txBody>
          <a:bodyPr wrap="square" lIns="0" rIns="0" tIns="0" bIns="0">
            <a:spAutoFit/>
          </a:bodyPr>
          <a:lstStyle/>
          <a:p>
            <a:pPr>
              <a:lnSpc>
                <a:spcPct val="115000"/>
              </a:lnSpc>
              <a:spcAft>
                <a:spcPts val="0"/>
              </a:spcAft>
            </a:pPr>
            <a:r>
              <a:rPr sz="1400" b="0">
                <a:solidFill>
                  <a:srgbClr val="14213D"/>
                </a:solidFill>
                <a:latin typeface="Calibri"/>
              </a:rPr>
              <a:t>UNWIND dan MERGE, idempoten; himpunan dan atribut diperiksa</a:t>
            </a:r>
          </a:p>
        </p:txBody>
      </p:sp>
      <p:sp>
        <p:nvSpPr>
          <p:cNvPr id="23" name="TextBox 22"/>
          <p:cNvSpPr txBox="1"/>
          <p:nvPr/>
        </p:nvSpPr>
        <p:spPr>
          <a:xfrm>
            <a:off x="812800" y="4635500"/>
            <a:ext cx="10566400" cy="1016000"/>
          </a:xfrm>
          <a:prstGeom prst="rect">
            <a:avLst/>
          </a:prstGeom>
          <a:noFill/>
        </p:spPr>
        <p:txBody>
          <a:bodyPr wrap="square" lIns="0" rIns="0" tIns="0" bIns="0">
            <a:spAutoFit/>
          </a:bodyPr>
          <a:lstStyle/>
          <a:p>
            <a:pPr>
              <a:lnSpc>
                <a:spcPct val="120000"/>
              </a:lnSpc>
              <a:spcAft>
                <a:spcPts val="0"/>
              </a:spcAft>
            </a:pPr>
            <a:r>
              <a:rPr sz="1600" b="0">
                <a:solidFill>
                  <a:srgbClr val="14213D"/>
                </a:solidFill>
                <a:latin typeface="Calibri"/>
              </a:rPr>
              <a:t>Contoh, rekomendasi teman: Neo4j mencari teman dari teman yang belum berteman dan menghitung teman bersama; SQLite menambahkan umur, gender, wilayah, dan pendidikan.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Cara mengukur agar perbandingan adil</a:t>
            </a:r>
          </a:p>
        </p:txBody>
      </p:sp>
      <p:sp>
        <p:nvSpPr>
          <p:cNvPr id="3" name="Rounded Rectangle 2"/>
          <p:cNvSpPr/>
          <p:nvPr/>
        </p:nvSpPr>
        <p:spPr>
          <a:xfrm>
            <a:off x="812800" y="1587500"/>
            <a:ext cx="5156200" cy="38100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800" y="1809750"/>
            <a:ext cx="4648200" cy="381000"/>
          </a:xfrm>
          <a:prstGeom prst="rect">
            <a:avLst/>
          </a:prstGeom>
          <a:noFill/>
        </p:spPr>
        <p:txBody>
          <a:bodyPr wrap="square" lIns="0" rIns="0" tIns="0" bIns="0">
            <a:spAutoFit/>
          </a:bodyPr>
          <a:lstStyle/>
          <a:p>
            <a:pPr>
              <a:lnSpc>
                <a:spcPct val="110000"/>
              </a:lnSpc>
              <a:spcAft>
                <a:spcPts val="0"/>
              </a:spcAft>
            </a:pPr>
            <a:r>
              <a:rPr sz="2200" b="1">
                <a:solidFill>
                  <a:srgbClr val="14213D"/>
                </a:solidFill>
                <a:latin typeface="Calibri"/>
              </a:rPr>
              <a:t>Aturan pengukuran</a:t>
            </a:r>
          </a:p>
        </p:txBody>
      </p:sp>
      <p:sp>
        <p:nvSpPr>
          <p:cNvPr id="5" name="TextBox 4"/>
          <p:cNvSpPr txBox="1"/>
          <p:nvPr/>
        </p:nvSpPr>
        <p:spPr>
          <a:xfrm>
            <a:off x="1066800" y="2349500"/>
            <a:ext cx="4648200" cy="2857500"/>
          </a:xfrm>
          <a:prstGeom prst="rect">
            <a:avLst/>
          </a:prstGeom>
          <a:noFill/>
        </p:spPr>
        <p:txBody>
          <a:bodyPr wrap="square" lIns="0" rIns="0" tIns="0" bIns="0">
            <a:spAutoFit/>
          </a:bodyPr>
          <a:lstStyle/>
          <a:p>
            <a:pPr marL="254000" indent="-254000">
              <a:lnSpc>
                <a:spcPct val="115000"/>
              </a:lnSpc>
              <a:spcAft>
                <a:spcPts val="800"/>
              </a:spcAft>
              <a:buChar char="•"/>
            </a:pPr>
            <a:r>
              <a:rPr sz="1400" b="0">
                <a:solidFill>
                  <a:srgbClr val="14213D"/>
                </a:solidFill>
                <a:latin typeface="Calibri"/>
              </a:rPr>
              <a:t>Pertanyaan sama, query setara; hasil kedua mesin harus identik</a:t>
            </a:r>
          </a:p>
          <a:p>
            <a:pPr marL="254000" indent="-254000">
              <a:lnSpc>
                <a:spcPct val="115000"/>
              </a:lnSpc>
              <a:spcAft>
                <a:spcPts val="800"/>
              </a:spcAft>
              <a:buChar char="•"/>
            </a:pPr>
            <a:r>
              <a:rPr sz="1400" b="0">
                <a:solidFill>
                  <a:srgbClr val="14213D"/>
                </a:solidFill>
                <a:latin typeface="Calibri"/>
              </a:rPr>
              <a:t>Aturan Cypher (relasi tidak berulang) ditiru di SQL</a:t>
            </a:r>
          </a:p>
          <a:p>
            <a:pPr marL="254000" indent="-254000">
              <a:lnSpc>
                <a:spcPct val="115000"/>
              </a:lnSpc>
              <a:spcAft>
                <a:spcPts val="800"/>
              </a:spcAft>
              <a:buChar char="•"/>
            </a:pPr>
            <a:r>
              <a:rPr sz="1400" b="0">
                <a:solidFill>
                  <a:srgbClr val="14213D"/>
                </a:solidFill>
                <a:latin typeface="Calibri"/>
              </a:rPr>
              <a:t>Pemanasan 3 detik, pengulangan bergantian, median</a:t>
            </a:r>
          </a:p>
          <a:p>
            <a:pPr marL="254000" indent="-254000">
              <a:lnSpc>
                <a:spcPct val="115000"/>
              </a:lnSpc>
              <a:spcAft>
                <a:spcPts val="800"/>
              </a:spcAft>
              <a:buChar char="•"/>
            </a:pPr>
            <a:r>
              <a:rPr sz="1400" b="0">
                <a:solidFill>
                  <a:srgbClr val="14213D"/>
                </a:solidFill>
                <a:latin typeface="Calibri"/>
              </a:rPr>
              <a:t>Tiga run terpisah; Neo4j dinyalakan ulang tiap run</a:t>
            </a:r>
          </a:p>
          <a:p>
            <a:pPr marL="254000" indent="-254000">
              <a:lnSpc>
                <a:spcPct val="115000"/>
              </a:lnSpc>
              <a:spcAft>
                <a:spcPts val="800"/>
              </a:spcAft>
              <a:buChar char="•"/>
            </a:pPr>
            <a:r>
              <a:rPr sz="1400" b="0">
                <a:solidFill>
                  <a:srgbClr val="14213D"/>
                </a:solidFill>
                <a:latin typeface="Calibri"/>
              </a:rPr>
              <a:t>Jawaban kunci: Python murni dari CSV</a:t>
            </a:r>
          </a:p>
        </p:txBody>
      </p:sp>
      <p:sp>
        <p:nvSpPr>
          <p:cNvPr id="6" name="Rounded Rectangle 5"/>
          <p:cNvSpPr/>
          <p:nvPr/>
        </p:nvSpPr>
        <p:spPr>
          <a:xfrm>
            <a:off x="6223000" y="1587500"/>
            <a:ext cx="5156200" cy="3810000"/>
          </a:xfrm>
          <a:prstGeom prst="roundRect">
            <a:avLst>
              <a:gd name="adj" fmla="val 3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7000" y="1809750"/>
            <a:ext cx="4648200" cy="762000"/>
          </a:xfrm>
          <a:prstGeom prst="rect">
            <a:avLst/>
          </a:prstGeom>
          <a:noFill/>
        </p:spPr>
        <p:txBody>
          <a:bodyPr wrap="square" lIns="0" rIns="0" tIns="0" bIns="0">
            <a:spAutoFit/>
          </a:bodyPr>
          <a:lstStyle/>
          <a:p>
            <a:pPr>
              <a:lnSpc>
                <a:spcPct val="110000"/>
              </a:lnSpc>
              <a:spcAft>
                <a:spcPts val="0"/>
              </a:spcAft>
            </a:pPr>
            <a:r>
              <a:rPr sz="2200" b="1">
                <a:solidFill>
                  <a:srgbClr val="F7F5EF"/>
                </a:solidFill>
                <a:latin typeface="Georgia"/>
              </a:rPr>
              <a:t>Tepat k relasi: dua pasangan setara</a:t>
            </a:r>
          </a:p>
        </p:txBody>
      </p:sp>
      <p:sp>
        <p:nvSpPr>
          <p:cNvPr id="8" name="TextBox 7"/>
          <p:cNvSpPr txBox="1"/>
          <p:nvPr/>
        </p:nvSpPr>
        <p:spPr>
          <a:xfrm>
            <a:off x="6477000" y="2667000"/>
            <a:ext cx="4648200" cy="254000"/>
          </a:xfrm>
          <a:prstGeom prst="rect">
            <a:avLst/>
          </a:prstGeom>
          <a:noFill/>
        </p:spPr>
        <p:txBody>
          <a:bodyPr wrap="square" lIns="0" rIns="0" tIns="0" bIns="0">
            <a:spAutoFit/>
          </a:bodyPr>
          <a:lstStyle/>
          <a:p>
            <a:pPr>
              <a:lnSpc>
                <a:spcPct val="110000"/>
              </a:lnSpc>
              <a:spcAft>
                <a:spcPts val="0"/>
              </a:spcAft>
            </a:pPr>
            <a:r>
              <a:rPr sz="1400" b="1">
                <a:solidFill>
                  <a:srgbClr val="F7B79B"/>
                </a:solidFill>
                <a:latin typeface="Calibri"/>
              </a:rPr>
              <a:t>Menyusuri semua path</a:t>
            </a:r>
          </a:p>
        </p:txBody>
      </p:sp>
      <p:sp>
        <p:nvSpPr>
          <p:cNvPr id="9" name="TextBox 8"/>
          <p:cNvSpPr txBox="1"/>
          <p:nvPr/>
        </p:nvSpPr>
        <p:spPr>
          <a:xfrm>
            <a:off x="6477000" y="2952750"/>
            <a:ext cx="4648200" cy="508000"/>
          </a:xfrm>
          <a:prstGeom prst="rect">
            <a:avLst/>
          </a:prstGeom>
          <a:noFill/>
        </p:spPr>
        <p:txBody>
          <a:bodyPr wrap="square" lIns="0" rIns="0" tIns="0" bIns="0">
            <a:spAutoFit/>
          </a:bodyPr>
          <a:lstStyle/>
          <a:p>
            <a:pPr>
              <a:lnSpc>
                <a:spcPct val="110000"/>
              </a:lnSpc>
              <a:spcAft>
                <a:spcPts val="0"/>
              </a:spcAft>
            </a:pPr>
            <a:r>
              <a:rPr sz="1400" b="0">
                <a:solidFill>
                  <a:srgbClr val="C9D3E6"/>
                </a:solidFill>
                <a:latin typeface="Calibri"/>
              </a:rPr>
              <a:t>SQL JOIN berulang vs Cypher dengan count(p)</a:t>
            </a:r>
          </a:p>
        </p:txBody>
      </p:sp>
      <p:sp>
        <p:nvSpPr>
          <p:cNvPr id="10" name="TextBox 9"/>
          <p:cNvSpPr txBox="1"/>
          <p:nvPr/>
        </p:nvSpPr>
        <p:spPr>
          <a:xfrm>
            <a:off x="6477000" y="3683000"/>
            <a:ext cx="4648200" cy="254000"/>
          </a:xfrm>
          <a:prstGeom prst="rect">
            <a:avLst/>
          </a:prstGeom>
          <a:noFill/>
        </p:spPr>
        <p:txBody>
          <a:bodyPr wrap="square" lIns="0" rIns="0" tIns="0" bIns="0">
            <a:spAutoFit/>
          </a:bodyPr>
          <a:lstStyle/>
          <a:p>
            <a:pPr>
              <a:lnSpc>
                <a:spcPct val="110000"/>
              </a:lnSpc>
              <a:spcAft>
                <a:spcPts val="0"/>
              </a:spcAft>
            </a:pPr>
            <a:r>
              <a:rPr sz="1400" b="1">
                <a:solidFill>
                  <a:srgbClr val="9EDBC2"/>
                </a:solidFill>
                <a:latin typeface="Calibri"/>
              </a:rPr>
              <a:t>Hanya himpunan unik</a:t>
            </a:r>
          </a:p>
        </p:txBody>
      </p:sp>
      <p:sp>
        <p:nvSpPr>
          <p:cNvPr id="11" name="TextBox 10"/>
          <p:cNvSpPr txBox="1"/>
          <p:nvPr/>
        </p:nvSpPr>
        <p:spPr>
          <a:xfrm>
            <a:off x="6477000" y="3968750"/>
            <a:ext cx="4648200" cy="1016000"/>
          </a:xfrm>
          <a:prstGeom prst="rect">
            <a:avLst/>
          </a:prstGeom>
          <a:noFill/>
        </p:spPr>
        <p:txBody>
          <a:bodyPr wrap="square" lIns="0" rIns="0" tIns="0" bIns="0">
            <a:spAutoFit/>
          </a:bodyPr>
          <a:lstStyle/>
          <a:p>
            <a:pPr>
              <a:lnSpc>
                <a:spcPct val="110000"/>
              </a:lnSpc>
              <a:spcAft>
                <a:spcPts val="0"/>
              </a:spcAft>
            </a:pPr>
            <a:r>
              <a:rPr sz="1400" b="0">
                <a:solidFill>
                  <a:srgbClr val="C9D3E6"/>
                </a:solidFill>
                <a:latin typeface="Calibri"/>
              </a:rPr>
              <a:t>SQL DISTINCT per level vs Cypher tanpa count(p), yang boleh dipangkas Neo4j</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Hasil 1: kombinasinya benar</a:t>
            </a:r>
          </a:p>
        </p:txBody>
      </p:sp>
      <p:sp>
        <p:nvSpPr>
          <p:cNvPr id="3" name="Rounded Rectangle 2"/>
          <p:cNvSpPr/>
          <p:nvPr/>
        </p:nvSpPr>
        <p:spPr>
          <a:xfrm>
            <a:off x="812800" y="1587500"/>
            <a:ext cx="3810000" cy="3556000"/>
          </a:xfrm>
          <a:prstGeom prst="roundRect">
            <a:avLst>
              <a:gd name="adj" fmla="val 3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7600" y="2349500"/>
            <a:ext cx="3200400" cy="1079500"/>
          </a:xfrm>
          <a:prstGeom prst="rect">
            <a:avLst/>
          </a:prstGeom>
          <a:noFill/>
        </p:spPr>
        <p:txBody>
          <a:bodyPr wrap="square" lIns="0" rIns="0" tIns="0" bIns="0">
            <a:spAutoFit/>
          </a:bodyPr>
          <a:lstStyle/>
          <a:p>
            <a:pPr>
              <a:lnSpc>
                <a:spcPct val="110000"/>
              </a:lnSpc>
              <a:spcAft>
                <a:spcPts val="0"/>
              </a:spcAft>
            </a:pPr>
            <a:r>
              <a:rPr sz="6000" b="1">
                <a:solidFill>
                  <a:srgbClr val="F7F5EF"/>
                </a:solidFill>
                <a:latin typeface="Georgia"/>
              </a:rPr>
              <a:t>40/40</a:t>
            </a:r>
          </a:p>
        </p:txBody>
      </p:sp>
      <p:sp>
        <p:nvSpPr>
          <p:cNvPr id="5" name="TextBox 4"/>
          <p:cNvSpPr txBox="1"/>
          <p:nvPr/>
        </p:nvSpPr>
        <p:spPr>
          <a:xfrm>
            <a:off x="1117600" y="3556000"/>
            <a:ext cx="3200400" cy="1270000"/>
          </a:xfrm>
          <a:prstGeom prst="rect">
            <a:avLst/>
          </a:prstGeom>
          <a:noFill/>
        </p:spPr>
        <p:txBody>
          <a:bodyPr wrap="square" lIns="0" rIns="0" tIns="0" bIns="0">
            <a:spAutoFit/>
          </a:bodyPr>
          <a:lstStyle/>
          <a:p>
            <a:pPr>
              <a:lnSpc>
                <a:spcPct val="120000"/>
              </a:lnSpc>
              <a:spcAft>
                <a:spcPts val="0"/>
              </a:spcAft>
            </a:pPr>
            <a:r>
              <a:rPr sz="1600" b="0">
                <a:solidFill>
                  <a:srgbClr val="C9D3E6"/>
                </a:solidFill>
                <a:latin typeface="Calibri"/>
              </a:rPr>
              <a:t>tes lulus di tiga run terpisah (Neo4j dinyalakan ulang tiap run)</a:t>
            </a:r>
          </a:p>
        </p:txBody>
      </p:sp>
      <p:sp>
        <p:nvSpPr>
          <p:cNvPr id="6" name="Rounded Rectangle 5"/>
          <p:cNvSpPr/>
          <p:nvPr/>
        </p:nvSpPr>
        <p:spPr>
          <a:xfrm>
            <a:off x="4927600" y="1587500"/>
            <a:ext cx="6451600" cy="35560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32400" y="1841500"/>
            <a:ext cx="5842000" cy="3111500"/>
          </a:xfrm>
          <a:prstGeom prst="rect">
            <a:avLst/>
          </a:prstGeom>
          <a:noFill/>
        </p:spPr>
        <p:txBody>
          <a:bodyPr wrap="square" lIns="0" rIns="0" tIns="0" bIns="0">
            <a:spAutoFit/>
          </a:bodyPr>
          <a:lstStyle/>
          <a:p>
            <a:pPr marL="254000" indent="-254000">
              <a:lnSpc>
                <a:spcPct val="120000"/>
              </a:lnSpc>
              <a:spcAft>
                <a:spcPts val="1000"/>
              </a:spcAft>
              <a:buChar char="•"/>
            </a:pPr>
            <a:r>
              <a:rPr sz="1600" b="0">
                <a:solidFill>
                  <a:srgbClr val="14213D"/>
                </a:solidFill>
                <a:latin typeface="Calibri"/>
              </a:rPr>
              <a:t>4.505 pengguna, 72.004 relasi, 19.512 pasangan hobi: identik di kedua basis data</a:t>
            </a:r>
          </a:p>
          <a:p>
            <a:pPr marL="254000" indent="-254000">
              <a:lnSpc>
                <a:spcPct val="120000"/>
              </a:lnSpc>
              <a:spcAft>
                <a:spcPts val="1000"/>
              </a:spcAft>
              <a:buChar char="•"/>
            </a:pPr>
            <a:r>
              <a:rPr sz="1600" b="0">
                <a:solidFill>
                  <a:srgbClr val="14213D"/>
                </a:solidFill>
                <a:latin typeface="Calibri"/>
              </a:rPr>
              <a:t>13.515 nilai atribut duplikat sinkron</a:t>
            </a:r>
          </a:p>
          <a:p>
            <a:pPr marL="254000" indent="-254000">
              <a:lnSpc>
                <a:spcPct val="120000"/>
              </a:lnSpc>
              <a:spcAft>
                <a:spcPts val="1000"/>
              </a:spcAft>
              <a:buChar char="•"/>
            </a:pPr>
            <a:r>
              <a:rPr sz="1600" b="0">
                <a:solidFill>
                  <a:srgbClr val="14213D"/>
                </a:solidFill>
                <a:latin typeface="Calibri"/>
              </a:rPr>
              <a:t>Lima fungsi hibrida sama dengan jawaban kunci Python murni, termasuk kasus tepi</a:t>
            </a:r>
          </a:p>
          <a:p>
            <a:pPr marL="254000" indent="-254000">
              <a:lnSpc>
                <a:spcPct val="120000"/>
              </a:lnSpc>
              <a:spcAft>
                <a:spcPts val="1000"/>
              </a:spcAft>
              <a:buChar char="•"/>
            </a:pPr>
            <a:r>
              <a:rPr sz="1600" b="0">
                <a:solidFill>
                  <a:srgbClr val="14213D"/>
                </a:solidFill>
                <a:latin typeface="Calibri"/>
              </a:rPr>
              <a:t>14 dari 14 pasangan query identik di SQLite dan Neo4j</a:t>
            </a:r>
          </a:p>
          <a:p>
            <a:pPr marL="254000" indent="-254000">
              <a:lnSpc>
                <a:spcPct val="120000"/>
              </a:lnSpc>
              <a:spcAft>
                <a:spcPts val="1000"/>
              </a:spcAft>
              <a:buChar char="•"/>
            </a:pPr>
            <a:r>
              <a:rPr sz="1600" b="0">
                <a:solidFill>
                  <a:srgbClr val="14213D"/>
                </a:solidFill>
                <a:latin typeface="Calibri"/>
              </a:rPr>
              <a:t>Drift: 3 disuntik, 3 terdeteksi persis, 0 tersisa setelah perbaikan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Hasil 2: pemenang bergantung jenis pertanyaan</a:t>
            </a:r>
          </a:p>
        </p:txBody>
      </p:sp>
      <p:sp>
        <p:nvSpPr>
          <p:cNvPr id="3" name="Rounded Rectangle 2"/>
          <p:cNvSpPr/>
          <p:nvPr/>
        </p:nvSpPr>
        <p:spPr>
          <a:xfrm>
            <a:off x="812800" y="1460500"/>
            <a:ext cx="5588000" cy="4572000"/>
          </a:xfrm>
          <a:prstGeom prst="roundRect">
            <a:avLst>
              <a:gd name="adj" fmla="val 1000"/>
            </a:avLst>
          </a:prstGeom>
          <a:solidFill>
            <a:srgbClr val="FCFCFB"/>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0_perbandingan_keluarga_query.png"/>
          <p:cNvPicPr>
            <a:picLocks noChangeAspect="1"/>
          </p:cNvPicPr>
          <p:nvPr/>
        </p:nvPicPr>
        <p:blipFill>
          <a:blip r:embed="rId2"/>
          <a:stretch>
            <a:fillRect/>
          </a:stretch>
        </p:blipFill>
        <p:spPr>
          <a:xfrm>
            <a:off x="863600" y="1782724"/>
            <a:ext cx="5486400" cy="3927550"/>
          </a:xfrm>
          <a:prstGeom prst="rect">
            <a:avLst/>
          </a:prstGeom>
        </p:spPr>
      </p:pic>
      <p:sp>
        <p:nvSpPr>
          <p:cNvPr id="5" name="Rounded Rectangle 4"/>
          <p:cNvSpPr/>
          <p:nvPr/>
        </p:nvSpPr>
        <p:spPr>
          <a:xfrm>
            <a:off x="6654800" y="1460500"/>
            <a:ext cx="4724400" cy="1428750"/>
          </a:xfrm>
          <a:prstGeom prst="roundRect">
            <a:avLst>
              <a:gd name="adj" fmla="val 3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654800" y="1562100"/>
            <a:ext cx="50800" cy="12255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83400" y="1612900"/>
            <a:ext cx="4318000" cy="254000"/>
          </a:xfrm>
          <a:prstGeom prst="rect">
            <a:avLst/>
          </a:prstGeom>
          <a:noFill/>
        </p:spPr>
        <p:txBody>
          <a:bodyPr wrap="square" lIns="0" rIns="0" tIns="0" bIns="0">
            <a:spAutoFit/>
          </a:bodyPr>
          <a:lstStyle/>
          <a:p>
            <a:pPr>
              <a:lnSpc>
                <a:spcPct val="110000"/>
              </a:lnSpc>
              <a:spcAft>
                <a:spcPts val="0"/>
              </a:spcAft>
            </a:pPr>
            <a:r>
              <a:rPr sz="1600" b="1">
                <a:solidFill>
                  <a:srgbClr val="1F5FAE"/>
                </a:solidFill>
                <a:latin typeface="Calibri"/>
              </a:rPr>
              <a:t>SQLite lebih cepat</a:t>
            </a:r>
          </a:p>
        </p:txBody>
      </p:sp>
      <p:sp>
        <p:nvSpPr>
          <p:cNvPr id="8" name="TextBox 7"/>
          <p:cNvSpPr txBox="1"/>
          <p:nvPr/>
        </p:nvSpPr>
        <p:spPr>
          <a:xfrm>
            <a:off x="6883400" y="1930400"/>
            <a:ext cx="4318000" cy="889000"/>
          </a:xfrm>
          <a:prstGeom prst="rect">
            <a:avLst/>
          </a:prstGeom>
          <a:noFill/>
        </p:spPr>
        <p:txBody>
          <a:bodyPr wrap="square" lIns="0" rIns="0" tIns="0" bIns="0">
            <a:spAutoFit/>
          </a:bodyPr>
          <a:lstStyle/>
          <a:p>
            <a:pPr>
              <a:lnSpc>
                <a:spcPct val="115000"/>
              </a:lnSpc>
              <a:spcAft>
                <a:spcPts val="0"/>
              </a:spcAft>
            </a:pPr>
            <a:r>
              <a:rPr sz="1400" b="0">
                <a:solidFill>
                  <a:srgbClr val="14213D"/>
                </a:solidFill>
                <a:latin typeface="Calibri"/>
              </a:rPr>
              <a:t>pencarian titik 52×, agregasi 1,9–4,2×, rekomendasi teman 5,0×, penelusuran 1–2 relasi</a:t>
            </a:r>
          </a:p>
        </p:txBody>
      </p:sp>
      <p:sp>
        <p:nvSpPr>
          <p:cNvPr id="9" name="Rounded Rectangle 8"/>
          <p:cNvSpPr/>
          <p:nvPr/>
        </p:nvSpPr>
        <p:spPr>
          <a:xfrm>
            <a:off x="6654800" y="3016250"/>
            <a:ext cx="4724400" cy="1428750"/>
          </a:xfrm>
          <a:prstGeom prst="roundRect">
            <a:avLst>
              <a:gd name="adj" fmla="val 3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54800" y="3117850"/>
            <a:ext cx="50800" cy="122555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83400" y="3168650"/>
            <a:ext cx="4318000" cy="254000"/>
          </a:xfrm>
          <a:prstGeom prst="rect">
            <a:avLst/>
          </a:prstGeom>
          <a:noFill/>
        </p:spPr>
        <p:txBody>
          <a:bodyPr wrap="square" lIns="0" rIns="0" tIns="0" bIns="0">
            <a:spAutoFit/>
          </a:bodyPr>
          <a:lstStyle/>
          <a:p>
            <a:pPr>
              <a:lnSpc>
                <a:spcPct val="110000"/>
              </a:lnSpc>
              <a:spcAft>
                <a:spcPts val="0"/>
              </a:spcAft>
            </a:pPr>
            <a:r>
              <a:rPr sz="1600" b="1">
                <a:solidFill>
                  <a:srgbClr val="B8431A"/>
                </a:solidFill>
                <a:latin typeface="Calibri"/>
              </a:rPr>
              <a:t>Neo4j lebih cepat</a:t>
            </a:r>
          </a:p>
        </p:txBody>
      </p:sp>
      <p:sp>
        <p:nvSpPr>
          <p:cNvPr id="12" name="TextBox 11"/>
          <p:cNvSpPr txBox="1"/>
          <p:nvPr/>
        </p:nvSpPr>
        <p:spPr>
          <a:xfrm>
            <a:off x="6883400" y="3486150"/>
            <a:ext cx="4318000" cy="889000"/>
          </a:xfrm>
          <a:prstGeom prst="rect">
            <a:avLst/>
          </a:prstGeom>
          <a:noFill/>
        </p:spPr>
        <p:txBody>
          <a:bodyPr wrap="square" lIns="0" rIns="0" tIns="0" bIns="0">
            <a:spAutoFit/>
          </a:bodyPr>
          <a:lstStyle/>
          <a:p>
            <a:pPr>
              <a:lnSpc>
                <a:spcPct val="115000"/>
              </a:lnSpc>
              <a:spcAft>
                <a:spcPts val="0"/>
              </a:spcAft>
            </a:pPr>
            <a:r>
              <a:rPr sz="1400" b="0">
                <a:solidFill>
                  <a:srgbClr val="14213D"/>
                </a:solidFill>
                <a:latin typeface="Calibri"/>
              </a:rPr>
              <a:t>jalur terpendek 36,6×; penelusuran 3–4 relasi</a:t>
            </a:r>
          </a:p>
        </p:txBody>
      </p:sp>
      <p:sp>
        <p:nvSpPr>
          <p:cNvPr id="13" name="Rounded Rectangle 12"/>
          <p:cNvSpPr/>
          <p:nvPr/>
        </p:nvSpPr>
        <p:spPr>
          <a:xfrm>
            <a:off x="6654800" y="4572000"/>
            <a:ext cx="4724400" cy="1428750"/>
          </a:xfrm>
          <a:prstGeom prst="roundRect">
            <a:avLst>
              <a:gd name="adj" fmla="val 3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54800" y="4673600"/>
            <a:ext cx="50800" cy="1225550"/>
          </a:xfrm>
          <a:prstGeom prst="rect">
            <a:avLst/>
          </a:prstGeom>
          <a:solidFill>
            <a:srgbClr val="9AA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83400" y="4724400"/>
            <a:ext cx="4318000" cy="254000"/>
          </a:xfrm>
          <a:prstGeom prst="rect">
            <a:avLst/>
          </a:prstGeom>
          <a:noFill/>
        </p:spPr>
        <p:txBody>
          <a:bodyPr wrap="square" lIns="0" rIns="0" tIns="0" bIns="0">
            <a:spAutoFit/>
          </a:bodyPr>
          <a:lstStyle/>
          <a:p>
            <a:pPr>
              <a:lnSpc>
                <a:spcPct val="110000"/>
              </a:lnSpc>
              <a:spcAft>
                <a:spcPts val="0"/>
              </a:spcAft>
            </a:pPr>
            <a:r>
              <a:rPr sz="1600" b="1">
                <a:solidFill>
                  <a:srgbClr val="14213D"/>
                </a:solidFill>
                <a:latin typeface="Calibri"/>
              </a:rPr>
              <a:t>Catatan</a:t>
            </a:r>
          </a:p>
        </p:txBody>
      </p:sp>
      <p:sp>
        <p:nvSpPr>
          <p:cNvPr id="16" name="TextBox 15"/>
          <p:cNvSpPr txBox="1"/>
          <p:nvPr/>
        </p:nvSpPr>
        <p:spPr>
          <a:xfrm>
            <a:off x="6883400" y="5041900"/>
            <a:ext cx="4318000" cy="889000"/>
          </a:xfrm>
          <a:prstGeom prst="rect">
            <a:avLst/>
          </a:prstGeom>
          <a:noFill/>
        </p:spPr>
        <p:txBody>
          <a:bodyPr wrap="square" lIns="0" rIns="0" tIns="0" bIns="0">
            <a:spAutoFit/>
          </a:bodyPr>
          <a:lstStyle/>
          <a:p>
            <a:pPr>
              <a:lnSpc>
                <a:spcPct val="115000"/>
              </a:lnSpc>
              <a:spcAft>
                <a:spcPts val="0"/>
              </a:spcAft>
            </a:pPr>
            <a:r>
              <a:rPr sz="1400" b="0">
                <a:solidFill>
                  <a:srgbClr val="14213D"/>
                </a:solidFill>
                <a:latin typeface="Calibri"/>
              </a:rPr>
              <a:t>pada 3–4 relasi yang setara, Neo4j hanya 1,1–1,4× lebih cepat</a:t>
            </a:r>
          </a:p>
        </p:txBody>
      </p:sp>
      <p:sp>
        <p:nvSpPr>
          <p:cNvPr id="17" name="TextBox 16"/>
          <p:cNvSpPr txBox="1"/>
          <p:nvPr/>
        </p:nvSpPr>
        <p:spPr>
          <a:xfrm>
            <a:off x="812800" y="6350000"/>
            <a:ext cx="10566400" cy="190500"/>
          </a:xfrm>
          <a:prstGeom prst="rect">
            <a:avLst/>
          </a:prstGeom>
          <a:noFill/>
        </p:spPr>
        <p:txBody>
          <a:bodyPr wrap="square" lIns="0" rIns="0" tIns="0" bIns="0">
            <a:spAutoFit/>
          </a:bodyPr>
          <a:lstStyle/>
          <a:p>
            <a:pPr>
              <a:lnSpc>
                <a:spcPct val="110000"/>
              </a:lnSpc>
              <a:spcAft>
                <a:spcPts val="0"/>
              </a:spcAft>
            </a:pPr>
            <a:r>
              <a:rPr sz="1200" b="0">
                <a:solidFill>
                  <a:srgbClr val="5B6472"/>
                </a:solidFill>
                <a:latin typeface="Calibri"/>
              </a:rPr>
              <a:t>Median tiga run; hasil identik di kedua mesin pada 14 dari 14 pasangan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Hasil 3: selisih 8× sebagian besar karena pruning</a:t>
            </a:r>
          </a:p>
        </p:txBody>
      </p:sp>
      <p:sp>
        <p:nvSpPr>
          <p:cNvPr id="3" name="Rounded Rectangle 2"/>
          <p:cNvSpPr/>
          <p:nvPr/>
        </p:nvSpPr>
        <p:spPr>
          <a:xfrm>
            <a:off x="812800" y="1460500"/>
            <a:ext cx="6858000" cy="3937000"/>
          </a:xfrm>
          <a:prstGeom prst="roundRect">
            <a:avLst>
              <a:gd name="adj" fmla="val 1000"/>
            </a:avLst>
          </a:prstGeom>
          <a:solidFill>
            <a:srgbClr val="FCFCFB"/>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benchmark_waktu.png"/>
          <p:cNvPicPr>
            <a:picLocks noChangeAspect="1"/>
          </p:cNvPicPr>
          <p:nvPr/>
        </p:nvPicPr>
        <p:blipFill>
          <a:blip r:embed="rId2"/>
          <a:stretch>
            <a:fillRect/>
          </a:stretch>
        </p:blipFill>
        <p:spPr>
          <a:xfrm>
            <a:off x="863600" y="1553294"/>
            <a:ext cx="6756400" cy="3751410"/>
          </a:xfrm>
          <a:prstGeom prst="rect">
            <a:avLst/>
          </a:prstGeom>
        </p:spPr>
      </p:pic>
      <p:sp>
        <p:nvSpPr>
          <p:cNvPr id="5" name="Rounded Rectangle 4"/>
          <p:cNvSpPr/>
          <p:nvPr/>
        </p:nvSpPr>
        <p:spPr>
          <a:xfrm>
            <a:off x="7924800" y="1460500"/>
            <a:ext cx="3454400" cy="1238250"/>
          </a:xfrm>
          <a:prstGeom prst="roundRect">
            <a:avLst>
              <a:gd name="adj" fmla="val 4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02600" y="1587500"/>
            <a:ext cx="3111500" cy="381000"/>
          </a:xfrm>
          <a:prstGeom prst="rect">
            <a:avLst/>
          </a:prstGeom>
          <a:noFill/>
        </p:spPr>
        <p:txBody>
          <a:bodyPr wrap="square" lIns="0" rIns="0" tIns="0" bIns="0">
            <a:spAutoFit/>
          </a:bodyPr>
          <a:lstStyle/>
          <a:p>
            <a:pPr>
              <a:lnSpc>
                <a:spcPct val="110000"/>
              </a:lnSpc>
              <a:spcAft>
                <a:spcPts val="0"/>
              </a:spcAft>
            </a:pPr>
            <a:r>
              <a:rPr sz="2200" b="1">
                <a:solidFill>
                  <a:srgbClr val="B8431A"/>
                </a:solidFill>
                <a:latin typeface="Calibri"/>
              </a:rPr>
              <a:t>8,4×</a:t>
            </a:r>
          </a:p>
        </p:txBody>
      </p:sp>
      <p:sp>
        <p:nvSpPr>
          <p:cNvPr id="7" name="TextBox 6"/>
          <p:cNvSpPr txBox="1"/>
          <p:nvPr/>
        </p:nvSpPr>
        <p:spPr>
          <a:xfrm>
            <a:off x="8102600" y="2019300"/>
            <a:ext cx="3111500" cy="571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Neo4j vs SQL JOIN berulang, 3 relasi</a:t>
            </a:r>
          </a:p>
        </p:txBody>
      </p:sp>
      <p:sp>
        <p:nvSpPr>
          <p:cNvPr id="8" name="Rounded Rectangle 7"/>
          <p:cNvSpPr/>
          <p:nvPr/>
        </p:nvSpPr>
        <p:spPr>
          <a:xfrm>
            <a:off x="7924800" y="2825750"/>
            <a:ext cx="3454400" cy="1238250"/>
          </a:xfrm>
          <a:prstGeom prst="roundRect">
            <a:avLst>
              <a:gd name="adj" fmla="val 4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02600" y="2952750"/>
            <a:ext cx="3111500" cy="381000"/>
          </a:xfrm>
          <a:prstGeom prst="rect">
            <a:avLst/>
          </a:prstGeom>
          <a:noFill/>
        </p:spPr>
        <p:txBody>
          <a:bodyPr wrap="square" lIns="0" rIns="0" tIns="0" bIns="0">
            <a:spAutoFit/>
          </a:bodyPr>
          <a:lstStyle/>
          <a:p>
            <a:pPr>
              <a:lnSpc>
                <a:spcPct val="110000"/>
              </a:lnSpc>
              <a:spcAft>
                <a:spcPts val="0"/>
              </a:spcAft>
            </a:pPr>
            <a:r>
              <a:rPr sz="2200" b="1">
                <a:solidFill>
                  <a:srgbClr val="B8431A"/>
                </a:solidFill>
                <a:latin typeface="Calibri"/>
              </a:rPr>
              <a:t>1,1–1,4×</a:t>
            </a:r>
          </a:p>
        </p:txBody>
      </p:sp>
      <p:sp>
        <p:nvSpPr>
          <p:cNvPr id="10" name="TextBox 9"/>
          <p:cNvSpPr txBox="1"/>
          <p:nvPr/>
        </p:nvSpPr>
        <p:spPr>
          <a:xfrm>
            <a:off x="8102600" y="3384550"/>
            <a:ext cx="3111500" cy="571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Neo4j vs SQL DISTINCT per level</a:t>
            </a:r>
          </a:p>
        </p:txBody>
      </p:sp>
      <p:sp>
        <p:nvSpPr>
          <p:cNvPr id="11" name="Rounded Rectangle 10"/>
          <p:cNvSpPr/>
          <p:nvPr/>
        </p:nvSpPr>
        <p:spPr>
          <a:xfrm>
            <a:off x="7924800" y="4191000"/>
            <a:ext cx="3454400" cy="1238250"/>
          </a:xfrm>
          <a:prstGeom prst="roundRect">
            <a:avLst>
              <a:gd name="adj" fmla="val 4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2600" y="4318000"/>
            <a:ext cx="3111500" cy="38100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0,42 vs 0,34</a:t>
            </a:r>
          </a:p>
        </p:txBody>
      </p:sp>
      <p:sp>
        <p:nvSpPr>
          <p:cNvPr id="13" name="TextBox 12"/>
          <p:cNvSpPr txBox="1"/>
          <p:nvPr/>
        </p:nvSpPr>
        <p:spPr>
          <a:xfrm>
            <a:off x="8102600" y="4749800"/>
            <a:ext cx="3111500" cy="571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mikrodetik per path bila keduanya menyusuri semua path</a:t>
            </a:r>
          </a:p>
        </p:txBody>
      </p:sp>
      <p:sp>
        <p:nvSpPr>
          <p:cNvPr id="14" name="TextBox 13"/>
          <p:cNvSpPr txBox="1"/>
          <p:nvPr/>
        </p:nvSpPr>
        <p:spPr>
          <a:xfrm>
            <a:off x="812800" y="5588000"/>
            <a:ext cx="10566400" cy="698500"/>
          </a:xfrm>
          <a:prstGeom prst="rect">
            <a:avLst/>
          </a:prstGeom>
          <a:noFill/>
        </p:spPr>
        <p:txBody>
          <a:bodyPr wrap="square" lIns="0" rIns="0" tIns="0" bIns="0">
            <a:spAutoFit/>
          </a:bodyPr>
          <a:lstStyle/>
          <a:p>
            <a:pPr>
              <a:lnSpc>
                <a:spcPct val="115000"/>
              </a:lnSpc>
              <a:spcAft>
                <a:spcPts val="0"/>
              </a:spcAft>
            </a:pPr>
            <a:r>
              <a:rPr sz="1400" b="0">
                <a:solidFill>
                  <a:srgbClr val="14213D"/>
                </a:solidFill>
                <a:latin typeface="Calibri"/>
              </a:rPr>
              <a:t>EXPLAIN: </a:t>
            </a:r>
            <a:r>
              <a:rPr sz="1400" b="1">
                <a:solidFill>
                  <a:srgbClr val="14213D"/>
                </a:solidFill>
                <a:latin typeface="Calibri"/>
              </a:rPr>
              <a:t>count(p)</a:t>
            </a:r>
            <a:r>
              <a:rPr sz="1400" b="0">
                <a:solidFill>
                  <a:srgbClr val="14213D"/>
                </a:solidFill>
                <a:latin typeface="Calibri"/>
              </a:rPr>
              <a:t> memakai VarLengthExpand(All); tanpa count(p), Neo4j memakai </a:t>
            </a:r>
            <a:r>
              <a:rPr sz="1400" b="1">
                <a:solidFill>
                  <a:srgbClr val="14213D"/>
                </a:solidFill>
                <a:latin typeface="Calibri"/>
              </a:rPr>
              <a:t>VarLengthExpand(Pruning)</a:t>
            </a:r>
            <a:r>
              <a:rPr sz="1400" b="0">
                <a:solidFill>
                  <a:srgbClr val="14213D"/>
                </a:solidFill>
                <a:latin typeface="Calibri"/>
              </a:rPr>
              <a:t>, setara DISTINCT per level di SQL.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Hasil 4: jalur terpendek, keunggulan Neo4j</a:t>
            </a:r>
          </a:p>
        </p:txBody>
      </p:sp>
      <p:graphicFrame>
        <p:nvGraphicFramePr>
          <p:cNvPr id="3" name="Table 2"/>
          <p:cNvGraphicFramePr>
            <a:graphicFrameLocks noGrp="1"/>
          </p:cNvGraphicFramePr>
          <p:nvPr/>
        </p:nvGraphicFramePr>
        <p:xfrm>
          <a:off x="812800" y="1587500"/>
          <a:ext cx="6096000" cy="3118612"/>
        </p:xfrm>
        <a:graphic>
          <a:graphicData uri="http://schemas.openxmlformats.org/drawingml/2006/table">
            <a:tbl>
              <a:tblPr firstRow="1" bandRow="1">
                <a:tableStyleId>{5C22544A-7EE6-4342-B048-85BDC9FD1C3A}</a:tableStyleId>
              </a:tblPr>
              <a:tblGrid>
                <a:gridCol w="2194560"/>
                <a:gridCol w="1219200"/>
                <a:gridCol w="1341120"/>
                <a:gridCol w="1341120"/>
              </a:tblGrid>
              <a:tr h="445516">
                <a:tc>
                  <a:txBody>
                    <a:bodyPr/>
                    <a:lstStyle/>
                    <a:p>
                      <a:r>
                        <a:rPr sz="1400" b="1">
                          <a:solidFill>
                            <a:srgbClr val="FFFFFF"/>
                          </a:solidFill>
                          <a:latin typeface="Calibri"/>
                        </a:rPr>
                        <a:t>Jalur terpendek</a:t>
                      </a:r>
                    </a:p>
                  </a:txBody>
                  <a:tcPr marL="127000" marR="127000" marT="63500" marB="63500" anchor="ctr">
                    <a:solidFill>
                      <a:srgbClr val="14213D"/>
                    </a:solidFill>
                  </a:tcPr>
                </a:tc>
                <a:tc>
                  <a:txBody>
                    <a:bodyPr/>
                    <a:lstStyle/>
                    <a:p>
                      <a:r>
                        <a:rPr sz="1400" b="1">
                          <a:solidFill>
                            <a:srgbClr val="FFFFFF"/>
                          </a:solidFill>
                          <a:latin typeface="Calibri"/>
                        </a:rPr>
                        <a:t>Pasangan</a:t>
                      </a:r>
                    </a:p>
                  </a:txBody>
                  <a:tcPr marL="127000" marR="127000" marT="63500" marB="63500" anchor="ctr">
                    <a:solidFill>
                      <a:srgbClr val="14213D"/>
                    </a:solidFill>
                  </a:tcPr>
                </a:tc>
                <a:tc>
                  <a:txBody>
                    <a:bodyPr/>
                    <a:lstStyle/>
                    <a:p>
                      <a:r>
                        <a:rPr sz="1400" b="1">
                          <a:solidFill>
                            <a:srgbClr val="FFFFFF"/>
                          </a:solidFill>
                          <a:latin typeface="Calibri"/>
                        </a:rPr>
                        <a:t>SQLite (ms)</a:t>
                      </a:r>
                    </a:p>
                  </a:txBody>
                  <a:tcPr marL="127000" marR="127000" marT="63500" marB="63500" anchor="ctr">
                    <a:solidFill>
                      <a:srgbClr val="14213D"/>
                    </a:solidFill>
                  </a:tcPr>
                </a:tc>
                <a:tc>
                  <a:txBody>
                    <a:bodyPr/>
                    <a:lstStyle/>
                    <a:p>
                      <a:r>
                        <a:rPr sz="1400" b="1">
                          <a:solidFill>
                            <a:srgbClr val="FFFFFF"/>
                          </a:solidFill>
                          <a:latin typeface="Calibri"/>
                        </a:rPr>
                        <a:t>Neo4j (ms)</a:t>
                      </a:r>
                    </a:p>
                  </a:txBody>
                  <a:tcPr marL="127000" marR="127000" marT="63500" marB="63500" anchor="ctr">
                    <a:solidFill>
                      <a:srgbClr val="14213D"/>
                    </a:solidFill>
                  </a:tcPr>
                </a:tc>
              </a:tr>
              <a:tr h="445516">
                <a:tc>
                  <a:txBody>
                    <a:bodyPr/>
                    <a:lstStyle/>
                    <a:p>
                      <a:r>
                        <a:rPr sz="1400" b="0">
                          <a:solidFill>
                            <a:srgbClr val="14213D"/>
                          </a:solidFill>
                          <a:latin typeface="Calibri"/>
                        </a:rPr>
                        <a:t>2 relasi</a:t>
                      </a:r>
                    </a:p>
                  </a:txBody>
                  <a:tcPr marL="127000" marR="127000" marT="63500" marB="63500" anchor="ctr">
                    <a:solidFill>
                      <a:srgbClr val="FBFAF6"/>
                    </a:solidFill>
                  </a:tcPr>
                </a:tc>
                <a:tc>
                  <a:txBody>
                    <a:bodyPr/>
                    <a:lstStyle/>
                    <a:p>
                      <a:r>
                        <a:rPr sz="1400" b="0">
                          <a:solidFill>
                            <a:srgbClr val="14213D"/>
                          </a:solidFill>
                          <a:latin typeface="Calibri"/>
                        </a:rPr>
                        <a:t>3</a:t>
                      </a:r>
                    </a:p>
                  </a:txBody>
                  <a:tcPr marL="127000" marR="127000" marT="63500" marB="63500" anchor="ctr">
                    <a:solidFill>
                      <a:srgbClr val="FBFAF6"/>
                    </a:solidFill>
                  </a:tcPr>
                </a:tc>
                <a:tc>
                  <a:txBody>
                    <a:bodyPr/>
                    <a:lstStyle/>
                    <a:p>
                      <a:r>
                        <a:rPr sz="1400" b="0">
                          <a:solidFill>
                            <a:srgbClr val="14213D"/>
                          </a:solidFill>
                          <a:latin typeface="Calibri"/>
                        </a:rPr>
                        <a:t>5,1</a:t>
                      </a:r>
                    </a:p>
                  </a:txBody>
                  <a:tcPr marL="127000" marR="127000" marT="63500" marB="63500" anchor="ctr">
                    <a:solidFill>
                      <a:srgbClr val="FBFAF6"/>
                    </a:solidFill>
                  </a:tcPr>
                </a:tc>
                <a:tc>
                  <a:txBody>
                    <a:bodyPr/>
                    <a:lstStyle/>
                    <a:p>
                      <a:r>
                        <a:rPr sz="1400" b="0">
                          <a:solidFill>
                            <a:srgbClr val="14213D"/>
                          </a:solidFill>
                          <a:latin typeface="Calibri"/>
                        </a:rPr>
                        <a:t>1,10</a:t>
                      </a:r>
                    </a:p>
                  </a:txBody>
                  <a:tcPr marL="127000" marR="127000" marT="63500" marB="63500" anchor="ctr">
                    <a:solidFill>
                      <a:srgbClr val="FBFAF6"/>
                    </a:solidFill>
                  </a:tcPr>
                </a:tc>
              </a:tr>
              <a:tr h="445516">
                <a:tc>
                  <a:txBody>
                    <a:bodyPr/>
                    <a:lstStyle/>
                    <a:p>
                      <a:r>
                        <a:rPr sz="1400" b="0">
                          <a:solidFill>
                            <a:srgbClr val="14213D"/>
                          </a:solidFill>
                          <a:latin typeface="Calibri"/>
                        </a:rPr>
                        <a:t>3 relasi</a:t>
                      </a:r>
                    </a:p>
                  </a:txBody>
                  <a:tcPr marL="127000" marR="127000" marT="63500" marB="63500" anchor="ctr">
                    <a:solidFill>
                      <a:srgbClr val="F1EEE4"/>
                    </a:solidFill>
                  </a:tcPr>
                </a:tc>
                <a:tc>
                  <a:txBody>
                    <a:bodyPr/>
                    <a:lstStyle/>
                    <a:p>
                      <a:r>
                        <a:rPr sz="1400" b="0">
                          <a:solidFill>
                            <a:srgbClr val="14213D"/>
                          </a:solidFill>
                          <a:latin typeface="Calibri"/>
                        </a:rPr>
                        <a:t>8</a:t>
                      </a:r>
                    </a:p>
                  </a:txBody>
                  <a:tcPr marL="127000" marR="127000" marT="63500" marB="63500" anchor="ctr">
                    <a:solidFill>
                      <a:srgbClr val="F1EEE4"/>
                    </a:solidFill>
                  </a:tcPr>
                </a:tc>
                <a:tc>
                  <a:txBody>
                    <a:bodyPr/>
                    <a:lstStyle/>
                    <a:p>
                      <a:r>
                        <a:rPr sz="1400" b="0">
                          <a:solidFill>
                            <a:srgbClr val="14213D"/>
                          </a:solidFill>
                          <a:latin typeface="Calibri"/>
                        </a:rPr>
                        <a:t>30,6</a:t>
                      </a:r>
                    </a:p>
                  </a:txBody>
                  <a:tcPr marL="127000" marR="127000" marT="63500" marB="63500" anchor="ctr">
                    <a:solidFill>
                      <a:srgbClr val="F1EEE4"/>
                    </a:solidFill>
                  </a:tcPr>
                </a:tc>
                <a:tc>
                  <a:txBody>
                    <a:bodyPr/>
                    <a:lstStyle/>
                    <a:p>
                      <a:r>
                        <a:rPr sz="1400" b="0">
                          <a:solidFill>
                            <a:srgbClr val="14213D"/>
                          </a:solidFill>
                          <a:latin typeface="Calibri"/>
                        </a:rPr>
                        <a:t>1,53</a:t>
                      </a:r>
                    </a:p>
                  </a:txBody>
                  <a:tcPr marL="127000" marR="127000" marT="63500" marB="63500" anchor="ctr">
                    <a:solidFill>
                      <a:srgbClr val="F1EEE4"/>
                    </a:solidFill>
                  </a:tcPr>
                </a:tc>
              </a:tr>
              <a:tr h="445516">
                <a:tc>
                  <a:txBody>
                    <a:bodyPr/>
                    <a:lstStyle/>
                    <a:p>
                      <a:r>
                        <a:rPr sz="1400" b="0">
                          <a:solidFill>
                            <a:srgbClr val="14213D"/>
                          </a:solidFill>
                          <a:latin typeface="Calibri"/>
                        </a:rPr>
                        <a:t>4 relasi</a:t>
                      </a:r>
                    </a:p>
                  </a:txBody>
                  <a:tcPr marL="127000" marR="127000" marT="63500" marB="63500" anchor="ctr">
                    <a:solidFill>
                      <a:srgbClr val="FBFAF6"/>
                    </a:solidFill>
                  </a:tcPr>
                </a:tc>
                <a:tc>
                  <a:txBody>
                    <a:bodyPr/>
                    <a:lstStyle/>
                    <a:p>
                      <a:r>
                        <a:rPr sz="1400" b="0">
                          <a:solidFill>
                            <a:srgbClr val="14213D"/>
                          </a:solidFill>
                          <a:latin typeface="Calibri"/>
                        </a:rPr>
                        <a:t>3</a:t>
                      </a:r>
                    </a:p>
                  </a:txBody>
                  <a:tcPr marL="127000" marR="127000" marT="63500" marB="63500" anchor="ctr">
                    <a:solidFill>
                      <a:srgbClr val="FBFAF6"/>
                    </a:solidFill>
                  </a:tcPr>
                </a:tc>
                <a:tc>
                  <a:txBody>
                    <a:bodyPr/>
                    <a:lstStyle/>
                    <a:p>
                      <a:r>
                        <a:rPr sz="1400" b="0">
                          <a:solidFill>
                            <a:srgbClr val="14213D"/>
                          </a:solidFill>
                          <a:latin typeface="Calibri"/>
                        </a:rPr>
                        <a:t>34,8</a:t>
                      </a:r>
                    </a:p>
                  </a:txBody>
                  <a:tcPr marL="127000" marR="127000" marT="63500" marB="63500" anchor="ctr">
                    <a:solidFill>
                      <a:srgbClr val="FBFAF6"/>
                    </a:solidFill>
                  </a:tcPr>
                </a:tc>
                <a:tc>
                  <a:txBody>
                    <a:bodyPr/>
                    <a:lstStyle/>
                    <a:p>
                      <a:r>
                        <a:rPr sz="1400" b="0">
                          <a:solidFill>
                            <a:srgbClr val="14213D"/>
                          </a:solidFill>
                          <a:latin typeface="Calibri"/>
                        </a:rPr>
                        <a:t>1,75</a:t>
                      </a:r>
                    </a:p>
                  </a:txBody>
                  <a:tcPr marL="127000" marR="127000" marT="63500" marB="63500" anchor="ctr">
                    <a:solidFill>
                      <a:srgbClr val="FBFAF6"/>
                    </a:solidFill>
                  </a:tcPr>
                </a:tc>
              </a:tr>
              <a:tr h="445516">
                <a:tc>
                  <a:txBody>
                    <a:bodyPr/>
                    <a:lstStyle/>
                    <a:p>
                      <a:r>
                        <a:rPr sz="1400" b="0">
                          <a:solidFill>
                            <a:srgbClr val="14213D"/>
                          </a:solidFill>
                          <a:latin typeface="Calibri"/>
                        </a:rPr>
                        <a:t>5 relasi</a:t>
                      </a:r>
                    </a:p>
                  </a:txBody>
                  <a:tcPr marL="127000" marR="127000" marT="63500" marB="63500" anchor="ctr">
                    <a:solidFill>
                      <a:srgbClr val="F1EEE4"/>
                    </a:solidFill>
                  </a:tcPr>
                </a:tc>
                <a:tc>
                  <a:txBody>
                    <a:bodyPr/>
                    <a:lstStyle/>
                    <a:p>
                      <a:r>
                        <a:rPr sz="1400" b="0">
                          <a:solidFill>
                            <a:srgbClr val="14213D"/>
                          </a:solidFill>
                          <a:latin typeface="Calibri"/>
                        </a:rPr>
                        <a:t>1</a:t>
                      </a:r>
                    </a:p>
                  </a:txBody>
                  <a:tcPr marL="127000" marR="127000" marT="63500" marB="63500" anchor="ctr">
                    <a:solidFill>
                      <a:srgbClr val="F1EEE4"/>
                    </a:solidFill>
                  </a:tcPr>
                </a:tc>
                <a:tc>
                  <a:txBody>
                    <a:bodyPr/>
                    <a:lstStyle/>
                    <a:p>
                      <a:r>
                        <a:rPr sz="1400" b="0">
                          <a:solidFill>
                            <a:srgbClr val="14213D"/>
                          </a:solidFill>
                          <a:latin typeface="Calibri"/>
                        </a:rPr>
                        <a:t>81,4</a:t>
                      </a:r>
                    </a:p>
                  </a:txBody>
                  <a:tcPr marL="127000" marR="127000" marT="63500" marB="63500" anchor="ctr">
                    <a:solidFill>
                      <a:srgbClr val="F1EEE4"/>
                    </a:solidFill>
                  </a:tcPr>
                </a:tc>
                <a:tc>
                  <a:txBody>
                    <a:bodyPr/>
                    <a:lstStyle/>
                    <a:p>
                      <a:r>
                        <a:rPr sz="1400" b="0">
                          <a:solidFill>
                            <a:srgbClr val="14213D"/>
                          </a:solidFill>
                          <a:latin typeface="Calibri"/>
                        </a:rPr>
                        <a:t>1,78</a:t>
                      </a:r>
                    </a:p>
                  </a:txBody>
                  <a:tcPr marL="127000" marR="127000" marT="63500" marB="63500" anchor="ctr">
                    <a:solidFill>
                      <a:srgbClr val="F1EEE4"/>
                    </a:solidFill>
                  </a:tcPr>
                </a:tc>
              </a:tr>
              <a:tr h="445516">
                <a:tc>
                  <a:txBody>
                    <a:bodyPr/>
                    <a:lstStyle/>
                    <a:p>
                      <a:r>
                        <a:rPr sz="1400" b="0">
                          <a:solidFill>
                            <a:srgbClr val="14213D"/>
                          </a:solidFill>
                          <a:latin typeface="Calibri"/>
                        </a:rPr>
                        <a:t>6 relasi</a:t>
                      </a:r>
                    </a:p>
                  </a:txBody>
                  <a:tcPr marL="127000" marR="127000" marT="63500" marB="63500" anchor="ctr">
                    <a:solidFill>
                      <a:srgbClr val="FBFAF6"/>
                    </a:solidFill>
                  </a:tcPr>
                </a:tc>
                <a:tc>
                  <a:txBody>
                    <a:bodyPr/>
                    <a:lstStyle/>
                    <a:p>
                      <a:r>
                        <a:rPr sz="1400" b="0">
                          <a:solidFill>
                            <a:srgbClr val="14213D"/>
                          </a:solidFill>
                          <a:latin typeface="Calibri"/>
                        </a:rPr>
                        <a:t>1</a:t>
                      </a:r>
                    </a:p>
                  </a:txBody>
                  <a:tcPr marL="127000" marR="127000" marT="63500" marB="63500" anchor="ctr">
                    <a:solidFill>
                      <a:srgbClr val="FBFAF6"/>
                    </a:solidFill>
                  </a:tcPr>
                </a:tc>
                <a:tc>
                  <a:txBody>
                    <a:bodyPr/>
                    <a:lstStyle/>
                    <a:p>
                      <a:r>
                        <a:rPr sz="1400" b="0">
                          <a:solidFill>
                            <a:srgbClr val="14213D"/>
                          </a:solidFill>
                          <a:latin typeface="Calibri"/>
                        </a:rPr>
                        <a:t>100,5</a:t>
                      </a:r>
                    </a:p>
                  </a:txBody>
                  <a:tcPr marL="127000" marR="127000" marT="63500" marB="63500" anchor="ctr">
                    <a:solidFill>
                      <a:srgbClr val="FBFAF6"/>
                    </a:solidFill>
                  </a:tcPr>
                </a:tc>
                <a:tc>
                  <a:txBody>
                    <a:bodyPr/>
                    <a:lstStyle/>
                    <a:p>
                      <a:r>
                        <a:rPr sz="1400" b="0">
                          <a:solidFill>
                            <a:srgbClr val="14213D"/>
                          </a:solidFill>
                          <a:latin typeface="Calibri"/>
                        </a:rPr>
                        <a:t>2,06</a:t>
                      </a:r>
                    </a:p>
                  </a:txBody>
                  <a:tcPr marL="127000" marR="127000" marT="63500" marB="63500" anchor="ctr">
                    <a:solidFill>
                      <a:srgbClr val="FBFAF6"/>
                    </a:solidFill>
                  </a:tcPr>
                </a:tc>
              </a:tr>
              <a:tr h="445516">
                <a:tc>
                  <a:txBody>
                    <a:bodyPr/>
                    <a:lstStyle/>
                    <a:p>
                      <a:r>
                        <a:rPr sz="1400" b="0">
                          <a:solidFill>
                            <a:srgbClr val="14213D"/>
                          </a:solidFill>
                          <a:latin typeface="Calibri"/>
                        </a:rPr>
                        <a:t>tidak terhubung</a:t>
                      </a:r>
                    </a:p>
                  </a:txBody>
                  <a:tcPr marL="127000" marR="127000" marT="63500" marB="63500" anchor="ctr">
                    <a:solidFill>
                      <a:srgbClr val="F1EEE4"/>
                    </a:solidFill>
                  </a:tcPr>
                </a:tc>
                <a:tc>
                  <a:txBody>
                    <a:bodyPr/>
                    <a:lstStyle/>
                    <a:p>
                      <a:r>
                        <a:rPr sz="1400" b="0">
                          <a:solidFill>
                            <a:srgbClr val="14213D"/>
                          </a:solidFill>
                          <a:latin typeface="Calibri"/>
                        </a:rPr>
                        <a:t>4</a:t>
                      </a:r>
                    </a:p>
                  </a:txBody>
                  <a:tcPr marL="127000" marR="127000" marT="63500" marB="63500" anchor="ctr">
                    <a:solidFill>
                      <a:srgbClr val="F1EEE4"/>
                    </a:solidFill>
                  </a:tcPr>
                </a:tc>
                <a:tc>
                  <a:txBody>
                    <a:bodyPr/>
                    <a:lstStyle/>
                    <a:p>
                      <a:r>
                        <a:rPr sz="1400" b="0">
                          <a:solidFill>
                            <a:srgbClr val="14213D"/>
                          </a:solidFill>
                          <a:latin typeface="Calibri"/>
                        </a:rPr>
                        <a:t>156,7</a:t>
                      </a:r>
                    </a:p>
                  </a:txBody>
                  <a:tcPr marL="127000" marR="127000" marT="63500" marB="63500" anchor="ctr">
                    <a:solidFill>
                      <a:srgbClr val="F1EEE4"/>
                    </a:solidFill>
                  </a:tcPr>
                </a:tc>
                <a:tc>
                  <a:txBody>
                    <a:bodyPr/>
                    <a:lstStyle/>
                    <a:p>
                      <a:r>
                        <a:rPr sz="1400" b="0">
                          <a:solidFill>
                            <a:srgbClr val="14213D"/>
                          </a:solidFill>
                          <a:latin typeface="Calibri"/>
                        </a:rPr>
                        <a:t>1,75</a:t>
                      </a:r>
                    </a:p>
                  </a:txBody>
                  <a:tcPr marL="127000" marR="127000" marT="63500" marB="63500" anchor="ctr">
                    <a:solidFill>
                      <a:srgbClr val="F1EEE4"/>
                    </a:solidFill>
                  </a:tcPr>
                </a:tc>
              </a:tr>
            </a:tbl>
          </a:graphicData>
        </a:graphic>
      </p:graphicFrame>
      <p:sp>
        <p:nvSpPr>
          <p:cNvPr id="4" name="Rounded Rectangle 3"/>
          <p:cNvSpPr/>
          <p:nvPr/>
        </p:nvSpPr>
        <p:spPr>
          <a:xfrm>
            <a:off x="7213600" y="1587500"/>
            <a:ext cx="4165600" cy="2667000"/>
          </a:xfrm>
          <a:prstGeom prst="roundRect">
            <a:avLst>
              <a:gd name="adj" fmla="val 35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67600" y="2032000"/>
            <a:ext cx="3657600" cy="1079500"/>
          </a:xfrm>
          <a:prstGeom prst="rect">
            <a:avLst/>
          </a:prstGeom>
          <a:noFill/>
        </p:spPr>
        <p:txBody>
          <a:bodyPr wrap="square" lIns="0" rIns="0" tIns="0" bIns="0">
            <a:spAutoFit/>
          </a:bodyPr>
          <a:lstStyle/>
          <a:p>
            <a:pPr>
              <a:lnSpc>
                <a:spcPct val="110000"/>
              </a:lnSpc>
              <a:spcAft>
                <a:spcPts val="0"/>
              </a:spcAft>
            </a:pPr>
            <a:r>
              <a:rPr sz="6000" b="1">
                <a:solidFill>
                  <a:srgbClr val="F7B79B"/>
                </a:solidFill>
                <a:latin typeface="Georgia"/>
              </a:rPr>
              <a:t>36,6×</a:t>
            </a:r>
          </a:p>
        </p:txBody>
      </p:sp>
      <p:sp>
        <p:nvSpPr>
          <p:cNvPr id="6" name="TextBox 5"/>
          <p:cNvSpPr txBox="1"/>
          <p:nvPr/>
        </p:nvSpPr>
        <p:spPr>
          <a:xfrm>
            <a:off x="7467600" y="3302000"/>
            <a:ext cx="3657600" cy="825500"/>
          </a:xfrm>
          <a:prstGeom prst="rect">
            <a:avLst/>
          </a:prstGeom>
          <a:noFill/>
        </p:spPr>
        <p:txBody>
          <a:bodyPr wrap="square" lIns="0" rIns="0" tIns="0" bIns="0">
            <a:spAutoFit/>
          </a:bodyPr>
          <a:lstStyle/>
          <a:p>
            <a:pPr>
              <a:lnSpc>
                <a:spcPct val="120000"/>
              </a:lnSpc>
              <a:spcAft>
                <a:spcPts val="0"/>
              </a:spcAft>
            </a:pPr>
            <a:r>
              <a:rPr sz="1400" b="0">
                <a:solidFill>
                  <a:srgbClr val="C9D3E6"/>
                </a:solidFill>
                <a:latin typeface="Calibri"/>
              </a:rPr>
              <a:t>Neo4j lebih cepat (20 pasangan, maks 8 relasi)</a:t>
            </a:r>
          </a:p>
        </p:txBody>
      </p:sp>
      <p:sp>
        <p:nvSpPr>
          <p:cNvPr id="7" name="TextBox 6"/>
          <p:cNvSpPr txBox="1"/>
          <p:nvPr/>
        </p:nvSpPr>
        <p:spPr>
          <a:xfrm>
            <a:off x="812800" y="4635500"/>
            <a:ext cx="10566400" cy="1143000"/>
          </a:xfrm>
          <a:prstGeom prst="rect">
            <a:avLst/>
          </a:prstGeom>
          <a:noFill/>
        </p:spPr>
        <p:txBody>
          <a:bodyPr wrap="square" lIns="0" rIns="0" tIns="0" bIns="0">
            <a:spAutoFit/>
          </a:bodyPr>
          <a:lstStyle/>
          <a:p>
            <a:pPr>
              <a:lnSpc>
                <a:spcPct val="120000"/>
              </a:lnSpc>
              <a:spcAft>
                <a:spcPts val="0"/>
              </a:spcAft>
            </a:pPr>
            <a:r>
              <a:rPr sz="1400" b="0">
                <a:solidFill>
                  <a:srgbClr val="14213D"/>
                </a:solidFill>
                <a:latin typeface="Calibri"/>
              </a:rPr>
              <a:t>Neo4j mencari dari kedua ujung, jadi waktunya hampir datar. SQL melebar dari satu ujung, makin lama dengan jarak, dan paling lama pada pasangan yang tidak terhubung. Hasil Cypher, SQL, dan BFS Python sama.</a:t>
            </a:r>
          </a:p>
        </p:txBody>
      </p:sp>
      <p:sp>
        <p:nvSpPr>
          <p:cNvPr id="8" name="TextBox 7"/>
          <p:cNvSpPr txBox="1"/>
          <p:nvPr/>
        </p:nvSpPr>
        <p:spPr>
          <a:xfrm>
            <a:off x="812800" y="6350000"/>
            <a:ext cx="10566400" cy="190500"/>
          </a:xfrm>
          <a:prstGeom prst="rect">
            <a:avLst/>
          </a:prstGeom>
          <a:noFill/>
        </p:spPr>
        <p:txBody>
          <a:bodyPr wrap="square" lIns="0" rIns="0" tIns="0" bIns="0">
            <a:spAutoFit/>
          </a:bodyPr>
          <a:lstStyle/>
          <a:p>
            <a:pPr>
              <a:lnSpc>
                <a:spcPct val="110000"/>
              </a:lnSpc>
              <a:spcAft>
                <a:spcPts val="0"/>
              </a:spcAft>
            </a:pPr>
            <a:r>
              <a:rPr sz="1200" b="0">
                <a:solidFill>
                  <a:srgbClr val="5B6472"/>
                </a:solidFill>
                <a:latin typeface="Calibri"/>
              </a:rPr>
              <a:t>Median tiga run; acuan: LDBC SNB Interactive Q13 (Erling dkk., 2015)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Hasil 5: biaya menggabungkan</a:t>
            </a:r>
          </a:p>
        </p:txBody>
      </p:sp>
      <p:sp>
        <p:nvSpPr>
          <p:cNvPr id="3" name="Rounded Rectangle 2"/>
          <p:cNvSpPr/>
          <p:nvPr/>
        </p:nvSpPr>
        <p:spPr>
          <a:xfrm>
            <a:off x="812800" y="1460500"/>
            <a:ext cx="6731000" cy="3556000"/>
          </a:xfrm>
          <a:prstGeom prst="roundRect">
            <a:avLst>
              <a:gd name="adj" fmla="val 1000"/>
            </a:avLst>
          </a:prstGeom>
          <a:solidFill>
            <a:srgbClr val="FCFCFB"/>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3_strategi_hybrid.png"/>
          <p:cNvPicPr>
            <a:picLocks noChangeAspect="1"/>
          </p:cNvPicPr>
          <p:nvPr/>
        </p:nvPicPr>
        <p:blipFill>
          <a:blip r:embed="rId2"/>
          <a:stretch>
            <a:fillRect/>
          </a:stretch>
        </p:blipFill>
        <p:spPr>
          <a:xfrm>
            <a:off x="1252182" y="1511300"/>
            <a:ext cx="5852234" cy="3454400"/>
          </a:xfrm>
          <a:prstGeom prst="rect">
            <a:avLst/>
          </a:prstGeom>
        </p:spPr>
      </p:pic>
      <p:sp>
        <p:nvSpPr>
          <p:cNvPr id="5" name="Rounded Rectangle 4"/>
          <p:cNvSpPr/>
          <p:nvPr/>
        </p:nvSpPr>
        <p:spPr>
          <a:xfrm>
            <a:off x="7797800" y="1460500"/>
            <a:ext cx="3581400" cy="1092200"/>
          </a:xfrm>
          <a:prstGeom prst="roundRect">
            <a:avLst>
              <a:gd name="adj" fmla="val 4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75600" y="1562100"/>
            <a:ext cx="3238500" cy="349250"/>
          </a:xfrm>
          <a:prstGeom prst="rect">
            <a:avLst/>
          </a:prstGeom>
          <a:noFill/>
        </p:spPr>
        <p:txBody>
          <a:bodyPr wrap="square" lIns="0" rIns="0" tIns="0" bIns="0">
            <a:spAutoFit/>
          </a:bodyPr>
          <a:lstStyle/>
          <a:p>
            <a:pPr>
              <a:lnSpc>
                <a:spcPct val="110000"/>
              </a:lnSpc>
              <a:spcAft>
                <a:spcPts val="0"/>
              </a:spcAft>
            </a:pPr>
            <a:r>
              <a:rPr sz="2200" b="1">
                <a:solidFill>
                  <a:srgbClr val="0E7A55"/>
                </a:solidFill>
                <a:latin typeface="Calibri"/>
              </a:rPr>
              <a:t>19× dan 10×</a:t>
            </a:r>
          </a:p>
        </p:txBody>
      </p:sp>
      <p:sp>
        <p:nvSpPr>
          <p:cNvPr id="7" name="TextBox 6"/>
          <p:cNvSpPr txBox="1"/>
          <p:nvPr/>
        </p:nvSpPr>
        <p:spPr>
          <a:xfrm>
            <a:off x="7975600" y="1943100"/>
            <a:ext cx="3238500" cy="571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hibrida lebih lambat daripada semua-di-SQLite dan semua-di-Neo4j</a:t>
            </a:r>
          </a:p>
        </p:txBody>
      </p:sp>
      <p:sp>
        <p:nvSpPr>
          <p:cNvPr id="8" name="Rounded Rectangle 7"/>
          <p:cNvSpPr/>
          <p:nvPr/>
        </p:nvSpPr>
        <p:spPr>
          <a:xfrm>
            <a:off x="7797800" y="2667000"/>
            <a:ext cx="3581400" cy="1092200"/>
          </a:xfrm>
          <a:prstGeom prst="roundRect">
            <a:avLst>
              <a:gd name="adj" fmla="val 4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75600" y="2768600"/>
            <a:ext cx="3238500" cy="349250"/>
          </a:xfrm>
          <a:prstGeom prst="rect">
            <a:avLst/>
          </a:prstGeom>
          <a:noFill/>
        </p:spPr>
        <p:txBody>
          <a:bodyPr wrap="square" lIns="0" rIns="0" tIns="0" bIns="0">
            <a:spAutoFit/>
          </a:bodyPr>
          <a:lstStyle/>
          <a:p>
            <a:pPr>
              <a:lnSpc>
                <a:spcPct val="110000"/>
              </a:lnSpc>
              <a:spcAft>
                <a:spcPts val="0"/>
              </a:spcAft>
            </a:pPr>
            <a:r>
              <a:rPr sz="2200" b="1">
                <a:solidFill>
                  <a:srgbClr val="1F5FAE"/>
                </a:solidFill>
                <a:latin typeface="Calibri"/>
              </a:rPr>
              <a:t>15×</a:t>
            </a:r>
          </a:p>
        </p:txBody>
      </p:sp>
      <p:sp>
        <p:nvSpPr>
          <p:cNvPr id="10" name="TextBox 9"/>
          <p:cNvSpPr txBox="1"/>
          <p:nvPr/>
        </p:nvSpPr>
        <p:spPr>
          <a:xfrm>
            <a:off x="7975600" y="3149600"/>
            <a:ext cx="3238500" cy="571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atribut 4.505 pengguna: SQLite 8,9 ms, node Neo4j 131,5 ms</a:t>
            </a:r>
          </a:p>
        </p:txBody>
      </p:sp>
      <p:sp>
        <p:nvSpPr>
          <p:cNvPr id="11" name="Rounded Rectangle 10"/>
          <p:cNvSpPr/>
          <p:nvPr/>
        </p:nvSpPr>
        <p:spPr>
          <a:xfrm>
            <a:off x="7797800" y="3873500"/>
            <a:ext cx="3581400" cy="1092200"/>
          </a:xfrm>
          <a:prstGeom prst="roundRect">
            <a:avLst>
              <a:gd name="adj" fmla="val 40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75600" y="3975100"/>
            <a:ext cx="3238500" cy="349250"/>
          </a:xfrm>
          <a:prstGeom prst="rect">
            <a:avLst/>
          </a:prstGeom>
          <a:noFill/>
        </p:spPr>
        <p:txBody>
          <a:bodyPr wrap="square" lIns="0" rIns="0" tIns="0" bIns="0">
            <a:spAutoFit/>
          </a:bodyPr>
          <a:lstStyle/>
          <a:p>
            <a:pPr>
              <a:lnSpc>
                <a:spcPct val="110000"/>
              </a:lnSpc>
              <a:spcAft>
                <a:spcPts val="0"/>
              </a:spcAft>
            </a:pPr>
            <a:r>
              <a:rPr sz="2200" b="1">
                <a:solidFill>
                  <a:srgbClr val="14213D"/>
                </a:solidFill>
                <a:latin typeface="Calibri"/>
              </a:rPr>
              <a:t>35 ms</a:t>
            </a:r>
          </a:p>
        </p:txBody>
      </p:sp>
      <p:sp>
        <p:nvSpPr>
          <p:cNvPr id="13" name="TextBox 12"/>
          <p:cNvSpPr txBox="1"/>
          <p:nvPr/>
        </p:nvSpPr>
        <p:spPr>
          <a:xfrm>
            <a:off x="7975600" y="4356100"/>
            <a:ext cx="3238500" cy="571500"/>
          </a:xfrm>
          <a:prstGeom prst="rect">
            <a:avLst/>
          </a:prstGeom>
          <a:noFill/>
        </p:spPr>
        <p:txBody>
          <a:bodyPr wrap="square" lIns="0" rIns="0" tIns="0" bIns="0">
            <a:spAutoFit/>
          </a:bodyPr>
          <a:lstStyle/>
          <a:p>
            <a:pPr>
              <a:lnSpc>
                <a:spcPct val="110000"/>
              </a:lnSpc>
              <a:spcAft>
                <a:spcPts val="0"/>
              </a:spcAft>
            </a:pPr>
            <a:r>
              <a:rPr sz="1200" b="0">
                <a:solidFill>
                  <a:srgbClr val="4A5568"/>
                </a:solidFill>
                <a:latin typeface="Calibri"/>
              </a:rPr>
              <a:t>memperbaiki 3 atribut tidak sinkron (3 dari 3 terdeteksi)</a:t>
            </a:r>
          </a:p>
        </p:txBody>
      </p:sp>
      <p:sp>
        <p:nvSpPr>
          <p:cNvPr id="14" name="TextBox 13"/>
          <p:cNvSpPr txBox="1"/>
          <p:nvPr/>
        </p:nvSpPr>
        <p:spPr>
          <a:xfrm>
            <a:off x="812800" y="5334000"/>
            <a:ext cx="10566400" cy="825500"/>
          </a:xfrm>
          <a:prstGeom prst="rect">
            <a:avLst/>
          </a:prstGeom>
          <a:noFill/>
        </p:spPr>
        <p:txBody>
          <a:bodyPr wrap="square" lIns="0" rIns="0" tIns="0" bIns="0">
            <a:spAutoFit/>
          </a:bodyPr>
          <a:lstStyle/>
          <a:p>
            <a:pPr>
              <a:lnSpc>
                <a:spcPct val="120000"/>
              </a:lnSpc>
              <a:spcAft>
                <a:spcPts val="0"/>
              </a:spcAft>
            </a:pPr>
            <a:r>
              <a:rPr sz="1400" b="0">
                <a:solidFill>
                  <a:srgbClr val="14213D"/>
                </a:solidFill>
                <a:latin typeface="Calibri"/>
              </a:rPr>
              <a:t>Hibrida tidak perlu menduplikasi atribut di node. Harganya: ongkos lintas batas, biaya tetap 0,85 ms per panggilan ke Neo4j (SQLite 0,006 ms), dan Neo4j perlu ±13 detik untuk menyala.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Skala dan pemanasan</a:t>
            </a:r>
          </a:p>
        </p:txBody>
      </p:sp>
      <p:sp>
        <p:nvSpPr>
          <p:cNvPr id="3" name="Rounded Rectangle 2"/>
          <p:cNvSpPr/>
          <p:nvPr/>
        </p:nvSpPr>
        <p:spPr>
          <a:xfrm>
            <a:off x="812800" y="1460500"/>
            <a:ext cx="5130800" cy="2667000"/>
          </a:xfrm>
          <a:prstGeom prst="roundRect">
            <a:avLst>
              <a:gd name="adj" fmla="val 1000"/>
            </a:avLst>
          </a:prstGeom>
          <a:solidFill>
            <a:srgbClr val="FCFCFB"/>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2_skala_graf.png"/>
          <p:cNvPicPr>
            <a:picLocks noChangeAspect="1"/>
          </p:cNvPicPr>
          <p:nvPr/>
        </p:nvPicPr>
        <p:blipFill>
          <a:blip r:embed="rId2"/>
          <a:stretch>
            <a:fillRect/>
          </a:stretch>
        </p:blipFill>
        <p:spPr>
          <a:xfrm>
            <a:off x="1220274" y="1511300"/>
            <a:ext cx="4315851" cy="2565400"/>
          </a:xfrm>
          <a:prstGeom prst="rect">
            <a:avLst/>
          </a:prstGeom>
        </p:spPr>
      </p:pic>
      <p:sp>
        <p:nvSpPr>
          <p:cNvPr id="5" name="Rounded Rectangle 4"/>
          <p:cNvSpPr/>
          <p:nvPr/>
        </p:nvSpPr>
        <p:spPr>
          <a:xfrm>
            <a:off x="6248400" y="1460500"/>
            <a:ext cx="5130800" cy="2667000"/>
          </a:xfrm>
          <a:prstGeom prst="roundRect">
            <a:avLst>
              <a:gd name="adj" fmla="val 1000"/>
            </a:avLst>
          </a:prstGeom>
          <a:solidFill>
            <a:srgbClr val="FCFCFB"/>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1_pemanasan_jvm.png"/>
          <p:cNvPicPr>
            <a:picLocks noChangeAspect="1"/>
          </p:cNvPicPr>
          <p:nvPr/>
        </p:nvPicPr>
        <p:blipFill>
          <a:blip r:embed="rId3"/>
          <a:stretch>
            <a:fillRect/>
          </a:stretch>
        </p:blipFill>
        <p:spPr>
          <a:xfrm>
            <a:off x="6299200" y="1576943"/>
            <a:ext cx="5029200" cy="2434113"/>
          </a:xfrm>
          <a:prstGeom prst="rect">
            <a:avLst/>
          </a:prstGeom>
        </p:spPr>
      </p:pic>
      <p:sp>
        <p:nvSpPr>
          <p:cNvPr id="7" name="TextBox 6"/>
          <p:cNvSpPr txBox="1"/>
          <p:nvPr/>
        </p:nvSpPr>
        <p:spPr>
          <a:xfrm>
            <a:off x="812800" y="4381500"/>
            <a:ext cx="5130800" cy="571500"/>
          </a:xfrm>
          <a:prstGeom prst="rect">
            <a:avLst/>
          </a:prstGeom>
          <a:noFill/>
        </p:spPr>
        <p:txBody>
          <a:bodyPr wrap="square" lIns="0" rIns="0" tIns="0" bIns="0">
            <a:spAutoFit/>
          </a:bodyPr>
          <a:lstStyle/>
          <a:p>
            <a:pPr>
              <a:lnSpc>
                <a:spcPct val="120000"/>
              </a:lnSpc>
              <a:spcAft>
                <a:spcPts val="0"/>
              </a:spcAft>
            </a:pPr>
            <a:r>
              <a:rPr sz="1400" b="0">
                <a:solidFill>
                  <a:srgbClr val="14213D"/>
                </a:solidFill>
                <a:latin typeface="Calibri"/>
              </a:rPr>
              <a:t>Graf 7,6× lebih besar: waktu naik 4,9–9,8×, urutan tetap sama</a:t>
            </a:r>
          </a:p>
        </p:txBody>
      </p:sp>
      <p:sp>
        <p:nvSpPr>
          <p:cNvPr id="8" name="TextBox 7"/>
          <p:cNvSpPr txBox="1"/>
          <p:nvPr/>
        </p:nvSpPr>
        <p:spPr>
          <a:xfrm>
            <a:off x="6248400" y="4381500"/>
            <a:ext cx="5130800" cy="571500"/>
          </a:xfrm>
          <a:prstGeom prst="rect">
            <a:avLst/>
          </a:prstGeom>
          <a:noFill/>
        </p:spPr>
        <p:txBody>
          <a:bodyPr wrap="square" lIns="0" rIns="0" tIns="0" bIns="0">
            <a:spAutoFit/>
          </a:bodyPr>
          <a:lstStyle/>
          <a:p>
            <a:pPr>
              <a:lnSpc>
                <a:spcPct val="120000"/>
              </a:lnSpc>
              <a:spcAft>
                <a:spcPts val="0"/>
              </a:spcAft>
            </a:pPr>
            <a:r>
              <a:rPr sz="1400" b="0">
                <a:solidFill>
                  <a:srgbClr val="14213D"/>
                </a:solidFill>
                <a:latin typeface="Calibri"/>
              </a:rPr>
              <a:t>Query pertama ±460 ms, stabil ±16 ms: pemanasan wajib</a:t>
            </a:r>
          </a:p>
        </p:txBody>
      </p:sp>
      <p:sp>
        <p:nvSpPr>
          <p:cNvPr id="9" name="TextBox 8"/>
          <p:cNvSpPr txBox="1"/>
          <p:nvPr/>
        </p:nvSpPr>
        <p:spPr>
          <a:xfrm>
            <a:off x="812800" y="6350000"/>
            <a:ext cx="10566400" cy="190500"/>
          </a:xfrm>
          <a:prstGeom prst="rect">
            <a:avLst/>
          </a:prstGeom>
          <a:noFill/>
        </p:spPr>
        <p:txBody>
          <a:bodyPr wrap="square" lIns="0" rIns="0" tIns="0" bIns="0">
            <a:spAutoFit/>
          </a:bodyPr>
          <a:lstStyle/>
          <a:p>
            <a:pPr>
              <a:lnSpc>
                <a:spcPct val="110000"/>
              </a:lnSpc>
              <a:spcAft>
                <a:spcPts val="0"/>
              </a:spcAft>
            </a:pPr>
            <a:r>
              <a:rPr sz="1200" b="0">
                <a:solidFill>
                  <a:srgbClr val="5B6472"/>
                </a:solidFill>
                <a:latin typeface="Calibri"/>
              </a:rPr>
              <a:t>Graf sintetis: preferential attachment (Barabási dan Albert, 1999), sampai 544.025 relasi; pemanasan mengikuti Georges dkk. (2007)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Hipotesis: empat didukung, satu sebagian</a:t>
            </a:r>
          </a:p>
        </p:txBody>
      </p:sp>
      <p:graphicFrame>
        <p:nvGraphicFramePr>
          <p:cNvPr id="3" name="Table 2"/>
          <p:cNvGraphicFramePr>
            <a:graphicFrameLocks noGrp="1"/>
          </p:cNvGraphicFramePr>
          <p:nvPr/>
        </p:nvGraphicFramePr>
        <p:xfrm>
          <a:off x="812800" y="1587500"/>
          <a:ext cx="10566400" cy="2890012"/>
        </p:xfrm>
        <a:graphic>
          <a:graphicData uri="http://schemas.openxmlformats.org/drawingml/2006/table">
            <a:tbl>
              <a:tblPr firstRow="1" bandRow="1">
                <a:tableStyleId>{5C22544A-7EE6-4342-B048-85BDC9FD1C3A}</a:tableStyleId>
              </a:tblPr>
              <a:tblGrid>
                <a:gridCol w="3592576"/>
                <a:gridCol w="1690624"/>
                <a:gridCol w="5283200"/>
              </a:tblGrid>
              <a:tr h="445516">
                <a:tc>
                  <a:txBody>
                    <a:bodyPr/>
                    <a:lstStyle/>
                    <a:p>
                      <a:r>
                        <a:rPr sz="1400" b="1">
                          <a:solidFill>
                            <a:srgbClr val="FFFFFF"/>
                          </a:solidFill>
                          <a:latin typeface="Calibri"/>
                        </a:rPr>
                        <a:t>Hipotesis</a:t>
                      </a:r>
                    </a:p>
                  </a:txBody>
                  <a:tcPr marL="127000" marR="127000" marT="63500" marB="63500" anchor="ctr">
                    <a:solidFill>
                      <a:srgbClr val="14213D"/>
                    </a:solidFill>
                  </a:tcPr>
                </a:tc>
                <a:tc>
                  <a:txBody>
                    <a:bodyPr/>
                    <a:lstStyle/>
                    <a:p>
                      <a:r>
                        <a:rPr sz="1400" b="1">
                          <a:solidFill>
                            <a:srgbClr val="FFFFFF"/>
                          </a:solidFill>
                          <a:latin typeface="Calibri"/>
                        </a:rPr>
                        <a:t>Hasil</a:t>
                      </a:r>
                    </a:p>
                  </a:txBody>
                  <a:tcPr marL="127000" marR="127000" marT="63500" marB="63500" anchor="ctr">
                    <a:solidFill>
                      <a:srgbClr val="14213D"/>
                    </a:solidFill>
                  </a:tcPr>
                </a:tc>
                <a:tc>
                  <a:txBody>
                    <a:bodyPr/>
                    <a:lstStyle/>
                    <a:p>
                      <a:r>
                        <a:rPr sz="1400" b="1">
                          <a:solidFill>
                            <a:srgbClr val="FFFFFF"/>
                          </a:solidFill>
                          <a:latin typeface="Calibri"/>
                        </a:rPr>
                        <a:t>Bukti</a:t>
                      </a:r>
                    </a:p>
                  </a:txBody>
                  <a:tcPr marL="127000" marR="127000" marT="63500" marB="63500" anchor="ctr">
                    <a:solidFill>
                      <a:srgbClr val="14213D"/>
                    </a:solidFill>
                  </a:tcPr>
                </a:tc>
              </a:tr>
              <a:tr h="445516">
                <a:tc>
                  <a:txBody>
                    <a:bodyPr/>
                    <a:lstStyle/>
                    <a:p>
                      <a:r>
                        <a:rPr sz="1400" b="0">
                          <a:solidFill>
                            <a:srgbClr val="14213D"/>
                          </a:solidFill>
                          <a:latin typeface="Calibri"/>
                        </a:rPr>
                        <a:t>H1 Konsisten dan benar</a:t>
                      </a:r>
                    </a:p>
                  </a:txBody>
                  <a:tcPr marL="127000" marR="127000" marT="63500" marB="63500" anchor="ctr">
                    <a:solidFill>
                      <a:srgbClr val="FBFAF6"/>
                    </a:solidFill>
                  </a:tcPr>
                </a:tc>
                <a:tc>
                  <a:txBody>
                    <a:bodyPr/>
                    <a:lstStyle/>
                    <a:p>
                      <a:r>
                        <a:rPr sz="1400" b="1">
                          <a:solidFill>
                            <a:srgbClr val="0E7A55"/>
                          </a:solidFill>
                          <a:latin typeface="Calibri"/>
                        </a:rPr>
                        <a:t>Didukung</a:t>
                      </a:r>
                    </a:p>
                  </a:txBody>
                  <a:tcPr marL="127000" marR="127000" marT="63500" marB="63500" anchor="ctr">
                    <a:solidFill>
                      <a:srgbClr val="FBFAF6"/>
                    </a:solidFill>
                  </a:tcPr>
                </a:tc>
                <a:tc>
                  <a:txBody>
                    <a:bodyPr/>
                    <a:lstStyle/>
                    <a:p>
                      <a:r>
                        <a:rPr sz="1400" b="0">
                          <a:solidFill>
                            <a:srgbClr val="14213D"/>
                          </a:solidFill>
                          <a:latin typeface="Calibri"/>
                        </a:rPr>
                        <a:t>17 dari 17 tes</a:t>
                      </a:r>
                    </a:p>
                  </a:txBody>
                  <a:tcPr marL="127000" marR="127000" marT="63500" marB="63500" anchor="ctr">
                    <a:solidFill>
                      <a:srgbClr val="FBFAF6"/>
                    </a:solidFill>
                  </a:tcPr>
                </a:tc>
              </a:tr>
              <a:tr h="445516">
                <a:tc>
                  <a:txBody>
                    <a:bodyPr/>
                    <a:lstStyle/>
                    <a:p>
                      <a:r>
                        <a:rPr sz="1400" b="0">
                          <a:solidFill>
                            <a:srgbClr val="14213D"/>
                          </a:solidFill>
                          <a:latin typeface="Calibri"/>
                        </a:rPr>
                        <a:t>H2 Hasil identik, beda di kinerja</a:t>
                      </a:r>
                    </a:p>
                  </a:txBody>
                  <a:tcPr marL="127000" marR="127000" marT="63500" marB="63500" anchor="ctr">
                    <a:solidFill>
                      <a:srgbClr val="F1EEE4"/>
                    </a:solidFill>
                  </a:tcPr>
                </a:tc>
                <a:tc>
                  <a:txBody>
                    <a:bodyPr/>
                    <a:lstStyle/>
                    <a:p>
                      <a:r>
                        <a:rPr sz="1400" b="1">
                          <a:solidFill>
                            <a:srgbClr val="0E7A55"/>
                          </a:solidFill>
                          <a:latin typeface="Calibri"/>
                        </a:rPr>
                        <a:t>Didukung</a:t>
                      </a:r>
                    </a:p>
                  </a:txBody>
                  <a:tcPr marL="127000" marR="127000" marT="63500" marB="63500" anchor="ctr">
                    <a:solidFill>
                      <a:srgbClr val="F1EEE4"/>
                    </a:solidFill>
                  </a:tcPr>
                </a:tc>
                <a:tc>
                  <a:txBody>
                    <a:bodyPr/>
                    <a:lstStyle/>
                    <a:p>
                      <a:r>
                        <a:rPr sz="1400" b="0">
                          <a:solidFill>
                            <a:srgbClr val="14213D"/>
                          </a:solidFill>
                          <a:latin typeface="Calibri"/>
                        </a:rPr>
                        <a:t>14 dari 14 pasangan identik</a:t>
                      </a:r>
                    </a:p>
                  </a:txBody>
                  <a:tcPr marL="127000" marR="127000" marT="63500" marB="63500" anchor="ctr">
                    <a:solidFill>
                      <a:srgbClr val="F1EEE4"/>
                    </a:solidFill>
                  </a:tcPr>
                </a:tc>
              </a:tr>
              <a:tr h="662432">
                <a:tc>
                  <a:txBody>
                    <a:bodyPr/>
                    <a:lstStyle/>
                    <a:p>
                      <a:r>
                        <a:rPr sz="1400" b="0">
                          <a:solidFill>
                            <a:srgbClr val="14213D"/>
                          </a:solidFill>
                          <a:latin typeface="Calibri"/>
                        </a:rPr>
                        <a:t>H3 Neo4j lebih cepat multi-hop</a:t>
                      </a:r>
                    </a:p>
                  </a:txBody>
                  <a:tcPr marL="127000" marR="127000" marT="63500" marB="63500" anchor="ctr">
                    <a:solidFill>
                      <a:srgbClr val="FBFAF6"/>
                    </a:solidFill>
                  </a:tcPr>
                </a:tc>
                <a:tc>
                  <a:txBody>
                    <a:bodyPr/>
                    <a:lstStyle/>
                    <a:p>
                      <a:r>
                        <a:rPr sz="1400" b="1">
                          <a:solidFill>
                            <a:srgbClr val="B8431A"/>
                          </a:solidFill>
                          <a:latin typeface="Calibri"/>
                        </a:rPr>
                        <a:t>Sebagian</a:t>
                      </a:r>
                    </a:p>
                  </a:txBody>
                  <a:tcPr marL="127000" marR="127000" marT="63500" marB="63500" anchor="ctr">
                    <a:solidFill>
                      <a:srgbClr val="FBFAF6"/>
                    </a:solidFill>
                  </a:tcPr>
                </a:tc>
                <a:tc>
                  <a:txBody>
                    <a:bodyPr/>
                    <a:lstStyle/>
                    <a:p>
                      <a:r>
                        <a:rPr sz="1400" b="0">
                          <a:solidFill>
                            <a:srgbClr val="14213D"/>
                          </a:solidFill>
                          <a:latin typeface="Calibri"/>
                        </a:rPr>
                        <a:t>mulai 3 relasi dan jalur terpendek; pada 2 relasi SQLite lebih cepat; vs SQL DISTINCT hanya 1,1–1,4×</a:t>
                      </a:r>
                    </a:p>
                  </a:txBody>
                  <a:tcPr marL="127000" marR="127000" marT="63500" marB="63500" anchor="ctr">
                    <a:solidFill>
                      <a:srgbClr val="FBFAF6"/>
                    </a:solidFill>
                  </a:tcPr>
                </a:tc>
              </a:tr>
              <a:tr h="445516">
                <a:tc>
                  <a:txBody>
                    <a:bodyPr/>
                    <a:lstStyle/>
                    <a:p>
                      <a:r>
                        <a:rPr sz="1400" b="0">
                          <a:solidFill>
                            <a:srgbClr val="14213D"/>
                          </a:solidFill>
                          <a:latin typeface="Calibri"/>
                        </a:rPr>
                        <a:t>H4 SQLite unggul titik dan agregasi</a:t>
                      </a:r>
                    </a:p>
                  </a:txBody>
                  <a:tcPr marL="127000" marR="127000" marT="63500" marB="63500" anchor="ctr">
                    <a:solidFill>
                      <a:srgbClr val="F1EEE4"/>
                    </a:solidFill>
                  </a:tcPr>
                </a:tc>
                <a:tc>
                  <a:txBody>
                    <a:bodyPr/>
                    <a:lstStyle/>
                    <a:p>
                      <a:r>
                        <a:rPr sz="1400" b="1">
                          <a:solidFill>
                            <a:srgbClr val="0E7A55"/>
                          </a:solidFill>
                          <a:latin typeface="Calibri"/>
                        </a:rPr>
                        <a:t>Didukung</a:t>
                      </a:r>
                    </a:p>
                  </a:txBody>
                  <a:tcPr marL="127000" marR="127000" marT="63500" marB="63500" anchor="ctr">
                    <a:solidFill>
                      <a:srgbClr val="F1EEE4"/>
                    </a:solidFill>
                  </a:tcPr>
                </a:tc>
                <a:tc>
                  <a:txBody>
                    <a:bodyPr/>
                    <a:lstStyle/>
                    <a:p>
                      <a:r>
                        <a:rPr sz="1400" b="0">
                          <a:solidFill>
                            <a:srgbClr val="14213D"/>
                          </a:solidFill>
                          <a:latin typeface="Calibri"/>
                        </a:rPr>
                        <a:t>52×, 1,9×, dan 4,2× lebih cepat</a:t>
                      </a:r>
                    </a:p>
                  </a:txBody>
                  <a:tcPr marL="127000" marR="127000" marT="63500" marB="63500" anchor="ctr">
                    <a:solidFill>
                      <a:srgbClr val="F1EEE4"/>
                    </a:solidFill>
                  </a:tcPr>
                </a:tc>
              </a:tr>
              <a:tr h="445516">
                <a:tc>
                  <a:txBody>
                    <a:bodyPr/>
                    <a:lstStyle/>
                    <a:p>
                      <a:r>
                        <a:rPr sz="1400" b="0">
                          <a:solidFill>
                            <a:srgbClr val="14213D"/>
                          </a:solidFill>
                          <a:latin typeface="Calibri"/>
                        </a:rPr>
                        <a:t>H5 Drift terdeteksi otomatis</a:t>
                      </a:r>
                    </a:p>
                  </a:txBody>
                  <a:tcPr marL="127000" marR="127000" marT="63500" marB="63500" anchor="ctr">
                    <a:solidFill>
                      <a:srgbClr val="FBFAF6"/>
                    </a:solidFill>
                  </a:tcPr>
                </a:tc>
                <a:tc>
                  <a:txBody>
                    <a:bodyPr/>
                    <a:lstStyle/>
                    <a:p>
                      <a:r>
                        <a:rPr sz="1400" b="1">
                          <a:solidFill>
                            <a:srgbClr val="0E7A55"/>
                          </a:solidFill>
                          <a:latin typeface="Calibri"/>
                        </a:rPr>
                        <a:t>Didukung</a:t>
                      </a:r>
                    </a:p>
                  </a:txBody>
                  <a:tcPr marL="127000" marR="127000" marT="63500" marB="63500" anchor="ctr">
                    <a:solidFill>
                      <a:srgbClr val="FBFAF6"/>
                    </a:solidFill>
                  </a:tcPr>
                </a:tc>
                <a:tc>
                  <a:txBody>
                    <a:bodyPr/>
                    <a:lstStyle/>
                    <a:p>
                      <a:r>
                        <a:rPr sz="1400" b="0">
                          <a:solidFill>
                            <a:srgbClr val="14213D"/>
                          </a:solidFill>
                          <a:latin typeface="Calibri"/>
                        </a:rPr>
                        <a:t>3 disuntik, 3 terdeteksi, 0 tersisa</a:t>
                      </a:r>
                    </a:p>
                  </a:txBody>
                  <a:tcPr marL="127000" marR="127000" marT="63500" marB="63500" anchor="ctr">
                    <a:solidFill>
                      <a:srgbClr val="FBFAF6"/>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F7F5EF"/>
                </a:solidFill>
                <a:latin typeface="Georgia"/>
              </a:rPr>
              <a:t>Kesimpulan: ya, bisa dikombinasikan</a:t>
            </a:r>
          </a:p>
        </p:txBody>
      </p:sp>
      <p:sp>
        <p:nvSpPr>
          <p:cNvPr id="3" name="Rounded Rectangle 2"/>
          <p:cNvSpPr/>
          <p:nvPr/>
        </p:nvSpPr>
        <p:spPr>
          <a:xfrm>
            <a:off x="812800" y="1778000"/>
            <a:ext cx="3386666" cy="2540000"/>
          </a:xfrm>
          <a:prstGeom prst="roundRect">
            <a:avLst>
              <a:gd name="adj" fmla="val 3500"/>
            </a:avLst>
          </a:prstGeom>
          <a:solidFill>
            <a:srgbClr val="1E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006600"/>
            <a:ext cx="2929466" cy="381000"/>
          </a:xfrm>
          <a:prstGeom prst="rect">
            <a:avLst/>
          </a:prstGeom>
          <a:noFill/>
        </p:spPr>
        <p:txBody>
          <a:bodyPr wrap="square" lIns="0" rIns="0" tIns="0" bIns="0">
            <a:spAutoFit/>
          </a:bodyPr>
          <a:lstStyle/>
          <a:p>
            <a:pPr>
              <a:lnSpc>
                <a:spcPct val="110000"/>
              </a:lnSpc>
              <a:spcAft>
                <a:spcPts val="0"/>
              </a:spcAft>
            </a:pPr>
            <a:r>
              <a:rPr sz="2200" b="1">
                <a:solidFill>
                  <a:srgbClr val="9EDBC2"/>
                </a:solidFill>
                <a:latin typeface="Calibri"/>
              </a:rPr>
              <a:t>Benar</a:t>
            </a:r>
          </a:p>
        </p:txBody>
      </p:sp>
      <p:sp>
        <p:nvSpPr>
          <p:cNvPr id="5" name="TextBox 4"/>
          <p:cNvSpPr txBox="1"/>
          <p:nvPr/>
        </p:nvSpPr>
        <p:spPr>
          <a:xfrm>
            <a:off x="1041400" y="2540000"/>
            <a:ext cx="2929466" cy="1651000"/>
          </a:xfrm>
          <a:prstGeom prst="rect">
            <a:avLst/>
          </a:prstGeom>
          <a:noFill/>
        </p:spPr>
        <p:txBody>
          <a:bodyPr wrap="square" lIns="0" rIns="0" tIns="0" bIns="0">
            <a:spAutoFit/>
          </a:bodyPr>
          <a:lstStyle/>
          <a:p>
            <a:pPr>
              <a:lnSpc>
                <a:spcPct val="125000"/>
              </a:lnSpc>
              <a:spcAft>
                <a:spcPts val="0"/>
              </a:spcAft>
            </a:pPr>
            <a:r>
              <a:rPr sz="1400" b="0">
                <a:solidFill>
                  <a:srgbClr val="E4E9F2"/>
                </a:solidFill>
                <a:latin typeface="Calibri"/>
              </a:rPr>
              <a:t>40 dari 40 tes lulus; 14 dari 14 pasangan query identik di kedua mesin</a:t>
            </a:r>
          </a:p>
        </p:txBody>
      </p:sp>
      <p:sp>
        <p:nvSpPr>
          <p:cNvPr id="6" name="Rounded Rectangle 5"/>
          <p:cNvSpPr/>
          <p:nvPr/>
        </p:nvSpPr>
        <p:spPr>
          <a:xfrm>
            <a:off x="4402666" y="1778000"/>
            <a:ext cx="3386666" cy="2540000"/>
          </a:xfrm>
          <a:prstGeom prst="roundRect">
            <a:avLst>
              <a:gd name="adj" fmla="val 3500"/>
            </a:avLst>
          </a:prstGeom>
          <a:solidFill>
            <a:srgbClr val="1E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31266" y="2006600"/>
            <a:ext cx="2929466" cy="381000"/>
          </a:xfrm>
          <a:prstGeom prst="rect">
            <a:avLst/>
          </a:prstGeom>
          <a:noFill/>
        </p:spPr>
        <p:txBody>
          <a:bodyPr wrap="square" lIns="0" rIns="0" tIns="0" bIns="0">
            <a:spAutoFit/>
          </a:bodyPr>
          <a:lstStyle/>
          <a:p>
            <a:pPr>
              <a:lnSpc>
                <a:spcPct val="110000"/>
              </a:lnSpc>
              <a:spcAft>
                <a:spcPts val="0"/>
              </a:spcAft>
            </a:pPr>
            <a:r>
              <a:rPr sz="2200" b="1">
                <a:solidFill>
                  <a:srgbClr val="F7B79B"/>
                </a:solidFill>
                <a:latin typeface="Calibri"/>
              </a:rPr>
              <a:t>Berbagi tugas</a:t>
            </a:r>
          </a:p>
        </p:txBody>
      </p:sp>
      <p:sp>
        <p:nvSpPr>
          <p:cNvPr id="8" name="TextBox 7"/>
          <p:cNvSpPr txBox="1"/>
          <p:nvPr/>
        </p:nvSpPr>
        <p:spPr>
          <a:xfrm>
            <a:off x="4631266" y="2540000"/>
            <a:ext cx="2929466" cy="1651000"/>
          </a:xfrm>
          <a:prstGeom prst="rect">
            <a:avLst/>
          </a:prstGeom>
          <a:noFill/>
        </p:spPr>
        <p:txBody>
          <a:bodyPr wrap="square" lIns="0" rIns="0" tIns="0" bIns="0">
            <a:spAutoFit/>
          </a:bodyPr>
          <a:lstStyle/>
          <a:p>
            <a:pPr>
              <a:lnSpc>
                <a:spcPct val="125000"/>
              </a:lnSpc>
              <a:spcAft>
                <a:spcPts val="0"/>
              </a:spcAft>
            </a:pPr>
            <a:r>
              <a:rPr sz="1400" b="0">
                <a:solidFill>
                  <a:srgbClr val="E4E9F2"/>
                </a:solidFill>
                <a:latin typeface="Calibri"/>
              </a:rPr>
              <a:t>SQLite: atribut, agregasi, 1–2 relasi. Neo4j: jalur terpendek dan penelusuran 3 relasi atau lebih</a:t>
            </a:r>
          </a:p>
        </p:txBody>
      </p:sp>
      <p:sp>
        <p:nvSpPr>
          <p:cNvPr id="9" name="Rounded Rectangle 8"/>
          <p:cNvSpPr/>
          <p:nvPr/>
        </p:nvSpPr>
        <p:spPr>
          <a:xfrm>
            <a:off x="7992533" y="1778000"/>
            <a:ext cx="3386666" cy="2540000"/>
          </a:xfrm>
          <a:prstGeom prst="roundRect">
            <a:avLst>
              <a:gd name="adj" fmla="val 3500"/>
            </a:avLst>
          </a:prstGeom>
          <a:solidFill>
            <a:srgbClr val="1E2F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1133" y="2006600"/>
            <a:ext cx="2929466" cy="381000"/>
          </a:xfrm>
          <a:prstGeom prst="rect">
            <a:avLst/>
          </a:prstGeom>
          <a:noFill/>
        </p:spPr>
        <p:txBody>
          <a:bodyPr wrap="square" lIns="0" rIns="0" tIns="0" bIns="0">
            <a:spAutoFit/>
          </a:bodyPr>
          <a:lstStyle/>
          <a:p>
            <a:pPr>
              <a:lnSpc>
                <a:spcPct val="110000"/>
              </a:lnSpc>
              <a:spcAft>
                <a:spcPts val="0"/>
              </a:spcAft>
            </a:pPr>
            <a:r>
              <a:rPr sz="2200" b="1">
                <a:solidFill>
                  <a:srgbClr val="9FC3F0"/>
                </a:solidFill>
                <a:latin typeface="Calibri"/>
              </a:rPr>
              <a:t>Ada biayanya</a:t>
            </a:r>
          </a:p>
        </p:txBody>
      </p:sp>
      <p:sp>
        <p:nvSpPr>
          <p:cNvPr id="11" name="TextBox 10"/>
          <p:cNvSpPr txBox="1"/>
          <p:nvPr/>
        </p:nvSpPr>
        <p:spPr>
          <a:xfrm>
            <a:off x="8221133" y="2540000"/>
            <a:ext cx="2929466" cy="1651000"/>
          </a:xfrm>
          <a:prstGeom prst="rect">
            <a:avLst/>
          </a:prstGeom>
          <a:noFill/>
        </p:spPr>
        <p:txBody>
          <a:bodyPr wrap="square" lIns="0" rIns="0" tIns="0" bIns="0">
            <a:spAutoFit/>
          </a:bodyPr>
          <a:lstStyle/>
          <a:p>
            <a:pPr>
              <a:lnSpc>
                <a:spcPct val="125000"/>
              </a:lnSpc>
              <a:spcAft>
                <a:spcPts val="0"/>
              </a:spcAft>
            </a:pPr>
            <a:r>
              <a:rPr sz="1400" b="0">
                <a:solidFill>
                  <a:srgbClr val="E4E9F2"/>
                </a:solidFill>
                <a:latin typeface="Calibri"/>
              </a:rPr>
              <a:t>data ganda, lintas batas 10–19× lebih lambat, dan sinkronisasi</a:t>
            </a:r>
          </a:p>
        </p:txBody>
      </p:sp>
      <p:sp>
        <p:nvSpPr>
          <p:cNvPr id="12" name="TextBox 11"/>
          <p:cNvSpPr txBox="1"/>
          <p:nvPr/>
        </p:nvSpPr>
        <p:spPr>
          <a:xfrm>
            <a:off x="812800" y="4826000"/>
            <a:ext cx="10566400" cy="1016000"/>
          </a:xfrm>
          <a:prstGeom prst="rect">
            <a:avLst/>
          </a:prstGeom>
          <a:noFill/>
        </p:spPr>
        <p:txBody>
          <a:bodyPr wrap="square" lIns="0" rIns="0" tIns="0" bIns="0">
            <a:spAutoFit/>
          </a:bodyPr>
          <a:lstStyle/>
          <a:p>
            <a:pPr>
              <a:lnSpc>
                <a:spcPct val="120000"/>
              </a:lnSpc>
              <a:spcAft>
                <a:spcPts val="0"/>
              </a:spcAft>
            </a:pPr>
            <a:r>
              <a:rPr sz="2200" b="0">
                <a:solidFill>
                  <a:srgbClr val="F7F5EF"/>
                </a:solidFill>
                <a:latin typeface="Georgia"/>
              </a:rPr>
              <a:t>Layak bila sistem punya pertanyaan atribut dan pertanyaan keterhubungan yang dalam sekaligus.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Keterbatasan dan saran</a:t>
            </a:r>
          </a:p>
        </p:txBody>
      </p:sp>
      <p:sp>
        <p:nvSpPr>
          <p:cNvPr id="3" name="Rounded Rectangle 2"/>
          <p:cNvSpPr/>
          <p:nvPr/>
        </p:nvSpPr>
        <p:spPr>
          <a:xfrm>
            <a:off x="812800" y="1587500"/>
            <a:ext cx="5156200" cy="38100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1809750"/>
            <a:ext cx="4699000" cy="381000"/>
          </a:xfrm>
          <a:prstGeom prst="rect">
            <a:avLst/>
          </a:prstGeom>
          <a:noFill/>
        </p:spPr>
        <p:txBody>
          <a:bodyPr wrap="square" lIns="0" rIns="0" tIns="0" bIns="0">
            <a:spAutoFit/>
          </a:bodyPr>
          <a:lstStyle/>
          <a:p>
            <a:pPr>
              <a:lnSpc>
                <a:spcPct val="110000"/>
              </a:lnSpc>
              <a:spcAft>
                <a:spcPts val="0"/>
              </a:spcAft>
            </a:pPr>
            <a:r>
              <a:rPr sz="2200" b="1">
                <a:solidFill>
                  <a:srgbClr val="B8431A"/>
                </a:solidFill>
                <a:latin typeface="Calibri"/>
              </a:rPr>
              <a:t>Keterbatasan</a:t>
            </a:r>
          </a:p>
        </p:txBody>
      </p:sp>
      <p:sp>
        <p:nvSpPr>
          <p:cNvPr id="5" name="TextBox 4"/>
          <p:cNvSpPr txBox="1"/>
          <p:nvPr/>
        </p:nvSpPr>
        <p:spPr>
          <a:xfrm>
            <a:off x="1041400" y="2349500"/>
            <a:ext cx="4699000" cy="2857500"/>
          </a:xfrm>
          <a:prstGeom prst="rect">
            <a:avLst/>
          </a:prstGeom>
          <a:noFill/>
        </p:spPr>
        <p:txBody>
          <a:bodyPr wrap="square" lIns="0" rIns="0" tIns="0" bIns="0">
            <a:spAutoFit/>
          </a:bodyPr>
          <a:lstStyle/>
          <a:p>
            <a:pPr marL="254000" indent="-254000">
              <a:lnSpc>
                <a:spcPct val="115000"/>
              </a:lnSpc>
              <a:spcAft>
                <a:spcPts val="800"/>
              </a:spcAft>
              <a:buChar char="•"/>
            </a:pPr>
            <a:r>
              <a:rPr sz="1400" b="0">
                <a:solidFill>
                  <a:srgbClr val="14213D"/>
                </a:solidFill>
                <a:latin typeface="Calibri"/>
              </a:rPr>
              <a:t>Satu wilayah (4.505 pengguna), satu komputer</a:t>
            </a:r>
          </a:p>
          <a:p>
            <a:pPr marL="254000" indent="-254000">
              <a:lnSpc>
                <a:spcPct val="115000"/>
              </a:lnSpc>
              <a:spcAft>
                <a:spcPts val="800"/>
              </a:spcAft>
              <a:buChar char="•"/>
            </a:pPr>
            <a:r>
              <a:rPr sz="1400" b="0">
                <a:solidFill>
                  <a:srgbClr val="14213D"/>
                </a:solidFill>
                <a:latin typeface="Calibri"/>
              </a:rPr>
              <a:t>Beban satu pengguna; konkurensi tidak diuji</a:t>
            </a:r>
          </a:p>
          <a:p>
            <a:pPr marL="254000" indent="-254000">
              <a:lnSpc>
                <a:spcPct val="115000"/>
              </a:lnSpc>
              <a:spcAft>
                <a:spcPts val="800"/>
              </a:spcAft>
              <a:buChar char="•"/>
            </a:pPr>
            <a:r>
              <a:rPr sz="1400" b="0">
                <a:solidFill>
                  <a:srgbClr val="14213D"/>
                </a:solidFill>
                <a:latin typeface="Calibri"/>
              </a:rPr>
              <a:t>SQLite dalam proses, Neo4j lewat jaringan</a:t>
            </a:r>
          </a:p>
          <a:p>
            <a:pPr marL="254000" indent="-254000">
              <a:lnSpc>
                <a:spcPct val="115000"/>
              </a:lnSpc>
              <a:spcAft>
                <a:spcPts val="800"/>
              </a:spcAft>
              <a:buChar char="•"/>
            </a:pPr>
            <a:r>
              <a:rPr sz="1400" b="0">
                <a:solidFill>
                  <a:srgbClr val="14213D"/>
                </a:solidFill>
                <a:latin typeface="Calibri"/>
              </a:rPr>
              <a:t>Hanya Neo4j Community dan SQLite</a:t>
            </a:r>
          </a:p>
          <a:p>
            <a:pPr marL="254000" indent="-254000">
              <a:lnSpc>
                <a:spcPct val="115000"/>
              </a:lnSpc>
              <a:spcAft>
                <a:spcPts val="800"/>
              </a:spcAft>
              <a:buChar char="•"/>
            </a:pPr>
            <a:r>
              <a:rPr sz="1400" b="0">
                <a:solidFill>
                  <a:srgbClr val="14213D"/>
                </a:solidFill>
                <a:latin typeface="Calibri"/>
              </a:rPr>
              <a:t>Kemudahan menulis query hanya diukur dengan jumlah token</a:t>
            </a:r>
          </a:p>
        </p:txBody>
      </p:sp>
      <p:sp>
        <p:nvSpPr>
          <p:cNvPr id="6" name="Rounded Rectangle 5"/>
          <p:cNvSpPr/>
          <p:nvPr/>
        </p:nvSpPr>
        <p:spPr>
          <a:xfrm>
            <a:off x="6223000" y="1587500"/>
            <a:ext cx="5156200" cy="3810000"/>
          </a:xfrm>
          <a:prstGeom prst="roundRect">
            <a:avLst>
              <a:gd name="adj" fmla="val 3500"/>
            </a:avLst>
          </a:prstGeom>
          <a:solidFill>
            <a:srgbClr val="FBFAF6"/>
          </a:solidFill>
          <a:ln w="9525">
            <a:solidFill>
              <a:srgbClr val="D8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51600" y="1809750"/>
            <a:ext cx="4699000" cy="381000"/>
          </a:xfrm>
          <a:prstGeom prst="rect">
            <a:avLst/>
          </a:prstGeom>
          <a:noFill/>
        </p:spPr>
        <p:txBody>
          <a:bodyPr wrap="square" lIns="0" rIns="0" tIns="0" bIns="0">
            <a:spAutoFit/>
          </a:bodyPr>
          <a:lstStyle/>
          <a:p>
            <a:pPr>
              <a:lnSpc>
                <a:spcPct val="110000"/>
              </a:lnSpc>
              <a:spcAft>
                <a:spcPts val="0"/>
              </a:spcAft>
            </a:pPr>
            <a:r>
              <a:rPr sz="2200" b="1">
                <a:solidFill>
                  <a:srgbClr val="0E7A55"/>
                </a:solidFill>
                <a:latin typeface="Calibri"/>
              </a:rPr>
              <a:t>Saran penelitian lanjutan</a:t>
            </a:r>
          </a:p>
        </p:txBody>
      </p:sp>
      <p:sp>
        <p:nvSpPr>
          <p:cNvPr id="8" name="TextBox 7"/>
          <p:cNvSpPr txBox="1"/>
          <p:nvPr/>
        </p:nvSpPr>
        <p:spPr>
          <a:xfrm>
            <a:off x="6451600" y="2349500"/>
            <a:ext cx="4699000" cy="2857500"/>
          </a:xfrm>
          <a:prstGeom prst="rect">
            <a:avLst/>
          </a:prstGeom>
          <a:noFill/>
        </p:spPr>
        <p:txBody>
          <a:bodyPr wrap="square" lIns="0" rIns="0" tIns="0" bIns="0">
            <a:spAutoFit/>
          </a:bodyPr>
          <a:lstStyle/>
          <a:p>
            <a:pPr marL="254000" indent="-254000">
              <a:lnSpc>
                <a:spcPct val="115000"/>
              </a:lnSpc>
              <a:spcAft>
                <a:spcPts val="800"/>
              </a:spcAft>
              <a:buChar char="•"/>
            </a:pPr>
            <a:r>
              <a:rPr sz="1400" b="0">
                <a:solidFill>
                  <a:srgbClr val="14213D"/>
                </a:solidFill>
                <a:latin typeface="Calibri"/>
              </a:rPr>
              <a:t>Skala lebih besar (LDBC SNB, seluruh Pokec) dan beban konkuren</a:t>
            </a:r>
          </a:p>
          <a:p>
            <a:pPr marL="254000" indent="-254000">
              <a:lnSpc>
                <a:spcPct val="115000"/>
              </a:lnSpc>
              <a:spcAft>
                <a:spcPts val="800"/>
              </a:spcAft>
              <a:buChar char="•"/>
            </a:pPr>
            <a:r>
              <a:rPr sz="1400" b="0">
                <a:solidFill>
                  <a:srgbClr val="14213D"/>
                </a:solidFill>
                <a:latin typeface="Calibri"/>
              </a:rPr>
              <a:t>Bandingkan dengan PostgreSQL dan SQL/PGQ</a:t>
            </a:r>
          </a:p>
          <a:p>
            <a:pPr marL="254000" indent="-254000">
              <a:lnSpc>
                <a:spcPct val="115000"/>
              </a:lnSpc>
              <a:spcAft>
                <a:spcPts val="800"/>
              </a:spcAft>
              <a:buChar char="•"/>
            </a:pPr>
            <a:r>
              <a:rPr sz="1400" b="0">
                <a:solidFill>
                  <a:srgbClr val="14213D"/>
                </a:solidFill>
                <a:latin typeface="Calibri"/>
              </a:rPr>
              <a:t>Beberapa tipe relasi dan filter tipe relasi</a:t>
            </a:r>
          </a:p>
          <a:p>
            <a:pPr marL="254000" indent="-254000">
              <a:lnSpc>
                <a:spcPct val="115000"/>
              </a:lnSpc>
              <a:spcAft>
                <a:spcPts val="800"/>
              </a:spcAft>
              <a:buChar char="•"/>
            </a:pPr>
            <a:r>
              <a:rPr sz="1400" b="0">
                <a:solidFill>
                  <a:srgbClr val="14213D"/>
                </a:solidFill>
                <a:latin typeface="Calibri"/>
              </a:rPr>
              <a:t>Sinkronisasi otomatis lintas basis data</a:t>
            </a:r>
          </a:p>
          <a:p>
            <a:pPr marL="254000" indent="-254000">
              <a:lnSpc>
                <a:spcPct val="115000"/>
              </a:lnSpc>
              <a:spcAft>
                <a:spcPts val="800"/>
              </a:spcAft>
              <a:buChar char="•"/>
            </a:pPr>
            <a:r>
              <a:rPr sz="1400" b="0">
                <a:solidFill>
                  <a:srgbClr val="14213D"/>
                </a:solidFill>
                <a:latin typeface="Calibri"/>
              </a:rPr>
              <a:t>Studi pengguna untuk kemudahan query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12800" y="711200"/>
            <a:ext cx="10566400" cy="508000"/>
          </a:xfrm>
          <a:prstGeom prst="rect">
            <a:avLst/>
          </a:prstGeom>
          <a:noFill/>
        </p:spPr>
        <p:txBody>
          <a:bodyPr wrap="square" lIns="0" rIns="0" tIns="0" bIns="0">
            <a:spAutoFit/>
          </a:bodyPr>
          <a:lstStyle/>
          <a:p>
            <a:pPr>
              <a:lnSpc>
                <a:spcPct val="100000"/>
              </a:lnSpc>
              <a:spcAft>
                <a:spcPts val="0"/>
              </a:spcAft>
            </a:pPr>
            <a:r>
              <a:rPr sz="3200" b="1">
                <a:solidFill>
                  <a:srgbClr val="14213D"/>
                </a:solidFill>
                <a:latin typeface="Georgia"/>
              </a:rPr>
              <a:t>Pustaka utama (open access)</a:t>
            </a:r>
          </a:p>
        </p:txBody>
      </p:sp>
      <p:sp>
        <p:nvSpPr>
          <p:cNvPr id="3" name="TextBox 2"/>
          <p:cNvSpPr txBox="1"/>
          <p:nvPr/>
        </p:nvSpPr>
        <p:spPr>
          <a:xfrm>
            <a:off x="812800" y="1587500"/>
            <a:ext cx="5080000" cy="4127500"/>
          </a:xfrm>
          <a:prstGeom prst="rect">
            <a:avLst/>
          </a:prstGeom>
          <a:noFill/>
        </p:spPr>
        <p:txBody>
          <a:bodyPr wrap="square" lIns="0" rIns="0" tIns="0" bIns="0">
            <a:spAutoFit/>
          </a:bodyPr>
          <a:lstStyle/>
          <a:p>
            <a:pPr marL="254000" indent="-254000">
              <a:lnSpc>
                <a:spcPct val="115000"/>
              </a:lnSpc>
              <a:spcAft>
                <a:spcPts val="1000"/>
              </a:spcAft>
              <a:buChar char="•"/>
            </a:pPr>
            <a:r>
              <a:rPr sz="1400" b="0">
                <a:solidFill>
                  <a:srgbClr val="14213D"/>
                </a:solidFill>
                <a:latin typeface="Calibri"/>
              </a:rPr>
              <a:t>Angles (2018). The property graph database model.</a:t>
            </a:r>
          </a:p>
          <a:p>
            <a:pPr marL="254000" indent="-254000">
              <a:lnSpc>
                <a:spcPct val="115000"/>
              </a:lnSpc>
              <a:spcAft>
                <a:spcPts val="1000"/>
              </a:spcAft>
              <a:buChar char="•"/>
            </a:pPr>
            <a:r>
              <a:rPr sz="1400" b="0">
                <a:solidFill>
                  <a:srgbClr val="14213D"/>
                </a:solidFill>
                <a:latin typeface="Calibri"/>
              </a:rPr>
              <a:t>Cheng dkk. (2019). Which category is better: benchmarking relational and graph DBMSs.</a:t>
            </a:r>
          </a:p>
          <a:p>
            <a:pPr marL="254000" indent="-254000">
              <a:lnSpc>
                <a:spcPct val="115000"/>
              </a:lnSpc>
              <a:spcAft>
                <a:spcPts val="1000"/>
              </a:spcAft>
              <a:buChar char="•"/>
            </a:pPr>
            <a:r>
              <a:rPr sz="1400" b="0">
                <a:solidFill>
                  <a:srgbClr val="14213D"/>
                </a:solidFill>
                <a:latin typeface="Calibri"/>
              </a:rPr>
              <a:t>Erling dkk. (2015). The LDBC Social Network Benchmark: Interactive workload.</a:t>
            </a:r>
          </a:p>
          <a:p>
            <a:pPr marL="254000" indent="-254000">
              <a:lnSpc>
                <a:spcPct val="115000"/>
              </a:lnSpc>
              <a:spcAft>
                <a:spcPts val="1000"/>
              </a:spcAft>
              <a:buChar char="•"/>
            </a:pPr>
            <a:r>
              <a:rPr sz="1400" b="0">
                <a:solidFill>
                  <a:srgbClr val="14213D"/>
                </a:solidFill>
                <a:latin typeface="Calibri"/>
              </a:rPr>
              <a:t>Francis dkk. (2018). Cypher: an evolving query language for property graphs.</a:t>
            </a:r>
          </a:p>
          <a:p>
            <a:pPr marL="254000" indent="-254000">
              <a:lnSpc>
                <a:spcPct val="115000"/>
              </a:lnSpc>
              <a:spcAft>
                <a:spcPts val="1000"/>
              </a:spcAft>
              <a:buChar char="•"/>
            </a:pPr>
            <a:r>
              <a:rPr sz="1400" b="0">
                <a:solidFill>
                  <a:srgbClr val="14213D"/>
                </a:solidFill>
                <a:latin typeface="Calibri"/>
              </a:rPr>
              <a:t>Georges dkk. (2007). Statistically rigorous Java performance evaluation.</a:t>
            </a:r>
          </a:p>
        </p:txBody>
      </p:sp>
      <p:sp>
        <p:nvSpPr>
          <p:cNvPr id="4" name="TextBox 3"/>
          <p:cNvSpPr txBox="1"/>
          <p:nvPr/>
        </p:nvSpPr>
        <p:spPr>
          <a:xfrm>
            <a:off x="6299200" y="1587500"/>
            <a:ext cx="5080000" cy="4127500"/>
          </a:xfrm>
          <a:prstGeom prst="rect">
            <a:avLst/>
          </a:prstGeom>
          <a:noFill/>
        </p:spPr>
        <p:txBody>
          <a:bodyPr wrap="square" lIns="0" rIns="0" tIns="0" bIns="0">
            <a:spAutoFit/>
          </a:bodyPr>
          <a:lstStyle/>
          <a:p>
            <a:pPr marL="254000" indent="-254000">
              <a:lnSpc>
                <a:spcPct val="115000"/>
              </a:lnSpc>
              <a:spcAft>
                <a:spcPts val="1000"/>
              </a:spcAft>
              <a:buChar char="•"/>
            </a:pPr>
            <a:r>
              <a:rPr sz="1400" b="0">
                <a:solidFill>
                  <a:srgbClr val="14213D"/>
                </a:solidFill>
                <a:latin typeface="Calibri"/>
              </a:rPr>
              <a:t>Hassan dkk. (2018). Extending in-memory relational database engines with native graph support.</a:t>
            </a:r>
          </a:p>
          <a:p>
            <a:pPr marL="254000" indent="-254000">
              <a:lnSpc>
                <a:spcPct val="115000"/>
              </a:lnSpc>
              <a:spcAft>
                <a:spcPts val="1000"/>
              </a:spcAft>
              <a:buChar char="•"/>
            </a:pPr>
            <a:r>
              <a:rPr sz="1400" b="0">
                <a:solidFill>
                  <a:srgbClr val="14213D"/>
                </a:solidFill>
                <a:latin typeface="Calibri"/>
              </a:rPr>
              <a:t>Hölsch dkk. (2017). Performance of analytical and pattern matching graph queries in Neo4j and a relational database.</a:t>
            </a:r>
          </a:p>
          <a:p>
            <a:pPr marL="254000" indent="-254000">
              <a:lnSpc>
                <a:spcPct val="115000"/>
              </a:lnSpc>
              <a:spcAft>
                <a:spcPts val="1000"/>
              </a:spcAft>
              <a:buChar char="•"/>
            </a:pPr>
            <a:r>
              <a:rPr sz="1400" b="0">
                <a:solidFill>
                  <a:srgbClr val="14213D"/>
                </a:solidFill>
                <a:latin typeface="Calibri"/>
              </a:rPr>
              <a:t>Kotiranta dkk. (2022). Performance of graph and relational databases in complex queries.</a:t>
            </a:r>
          </a:p>
          <a:p>
            <a:pPr marL="254000" indent="-254000">
              <a:lnSpc>
                <a:spcPct val="115000"/>
              </a:lnSpc>
              <a:spcAft>
                <a:spcPts val="1000"/>
              </a:spcAft>
              <a:buChar char="•"/>
            </a:pPr>
            <a:r>
              <a:rPr sz="1400" b="0">
                <a:solidFill>
                  <a:srgbClr val="14213D"/>
                </a:solidFill>
                <a:latin typeface="Calibri"/>
              </a:rPr>
              <a:t>Rodriguez dan Neubauer (2010). The graph traversal pattern.</a:t>
            </a:r>
          </a:p>
          <a:p>
            <a:pPr marL="254000" indent="-254000">
              <a:lnSpc>
                <a:spcPct val="115000"/>
              </a:lnSpc>
              <a:spcAft>
                <a:spcPts val="1000"/>
              </a:spcAft>
              <a:buChar char="•"/>
            </a:pPr>
            <a:r>
              <a:rPr sz="1400" b="0">
                <a:solidFill>
                  <a:srgbClr val="14213D"/>
                </a:solidFill>
                <a:latin typeface="Calibri"/>
              </a:rPr>
              <a:t>Fowler (2011). Polyglot persistence.</a:t>
            </a:r>
          </a:p>
        </p:txBody>
      </p:sp>
      <p:sp>
        <p:nvSpPr>
          <p:cNvPr id="5" name="TextBox 4"/>
          <p:cNvSpPr txBox="1"/>
          <p:nvPr/>
        </p:nvSpPr>
        <p:spPr>
          <a:xfrm>
            <a:off x="812800" y="6350000"/>
            <a:ext cx="10566400" cy="190500"/>
          </a:xfrm>
          <a:prstGeom prst="rect">
            <a:avLst/>
          </a:prstGeom>
          <a:noFill/>
        </p:spPr>
        <p:txBody>
          <a:bodyPr wrap="square" lIns="0" rIns="0" tIns="0" bIns="0">
            <a:spAutoFit/>
          </a:bodyPr>
          <a:lstStyle/>
          <a:p>
            <a:pPr>
              <a:lnSpc>
                <a:spcPct val="110000"/>
              </a:lnSpc>
              <a:spcAft>
                <a:spcPts val="0"/>
              </a:spcAft>
            </a:pPr>
            <a:r>
              <a:rPr sz="1200" b="0">
                <a:solidFill>
                  <a:srgbClr val="5B6472"/>
                </a:solidFill>
                <a:latin typeface="Calibri"/>
              </a:rPr>
              <a:t>37 pustaka lengkap dengan tautan ada di Daftar Pustaka laporan  ·  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